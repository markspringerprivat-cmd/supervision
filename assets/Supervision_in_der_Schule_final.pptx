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14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955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389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731520"/>
            <a:ext cx="3200400" cy="3200400"/>
          </a:xfrm>
          <a:prstGeom prst="ellipse">
            <a:avLst/>
          </a:prstGeom>
          <a:solidFill>
            <a:srgbClr val="2C7873">
              <a:alpha val="35000"/>
            </a:srgbClr>
          </a:solidFill>
          <a:ln w="12700">
            <a:solidFill>
              <a:srgbClr val="2C7873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182880"/>
            <a:ext cx="2011680" cy="2011680"/>
          </a:xfrm>
          <a:prstGeom prst="ellipse">
            <a:avLst/>
          </a:prstGeom>
          <a:solidFill>
            <a:srgbClr val="4CABA5">
              <a:alpha val="50000"/>
            </a:srgbClr>
          </a:solidFill>
          <a:ln w="12700">
            <a:solidFill>
              <a:srgbClr val="4CABA5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3931920"/>
            <a:ext cx="1828800" cy="1828800"/>
          </a:xfrm>
          <a:prstGeom prst="ellipse">
            <a:avLst/>
          </a:prstGeom>
          <a:solidFill>
            <a:srgbClr val="2C7873">
              <a:alpha val="30000"/>
            </a:srgbClr>
          </a:solidFill>
          <a:ln w="12700">
            <a:solidFill>
              <a:srgbClr val="2C7873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960120"/>
            <a:ext cx="2377440" cy="347472"/>
          </a:xfrm>
          <a:prstGeom prst="roundRect">
            <a:avLst>
              <a:gd name="adj" fmla="val 26316"/>
            </a:avLst>
          </a:prstGeom>
          <a:solidFill>
            <a:srgbClr val="4CABA5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Seminar · </a:t>
            </a:r>
            <a:r>
              <a:rPr lang="en-US" sz="1100" dirty="0" err="1">
                <a:solidFill>
                  <a:srgbClr val="FFFFFF"/>
                </a:solidFill>
              </a:rPr>
              <a:t>Förderdiagnostische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Beratung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im</a:t>
            </a:r>
            <a:r>
              <a:rPr lang="en-US" sz="1100" dirty="0">
                <a:solidFill>
                  <a:srgbClr val="FFFFFF"/>
                </a:solidFill>
              </a:rPr>
              <a:t> FS ESE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4C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der Schule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48640" y="315468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Reflexion, Entlastung und Professionalisierung im Lehrer*</a:t>
            </a:r>
            <a:r>
              <a:rPr lang="en-US" sz="1500" i="1" dirty="0" err="1">
                <a:solidFill>
                  <a:srgbClr val="CAD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innenberuf</a:t>
            </a:r>
            <a:endParaRPr lang="en-US" sz="1500" i="1" dirty="0">
              <a:solidFill>
                <a:srgbClr val="CADCD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CADCD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CAD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Marie </a:t>
            </a:r>
            <a:r>
              <a:rPr lang="en-US" sz="1200" dirty="0" err="1">
                <a:solidFill>
                  <a:srgbClr val="CAD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Löffelsender</a:t>
            </a:r>
            <a:r>
              <a:rPr lang="en-US" sz="1200" dirty="0">
                <a:solidFill>
                  <a:srgbClr val="CADC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Chiara Noelle, Mark Springer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BFC4"/>
                </a:solidFill>
              </a:rPr>
              <a:t>Grundlage: Möller (2012) · Lauffer (2023)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E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286000"/>
            <a:ext cx="3200400" cy="3200400"/>
          </a:xfrm>
          <a:prstGeom prst="ellipse">
            <a:avLst/>
          </a:prstGeom>
          <a:solidFill>
            <a:srgbClr val="2C7873">
              <a:alpha val="25000"/>
            </a:srgbClr>
          </a:solidFill>
          <a:ln w="12700">
            <a:solidFill>
              <a:srgbClr val="2C7873">
                <a:alpha val="2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4CABA5"/>
                </a:solidFill>
              </a:rPr>
              <a:t>Inhalt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4114800" cy="713232"/>
          </a:xfrm>
          <a:prstGeom prst="roundRect">
            <a:avLst>
              <a:gd name="adj" fmla="val 10256"/>
            </a:avLst>
          </a:prstGeom>
          <a:solidFill>
            <a:srgbClr val="2C7873">
              <a:alpha val="3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27048"/>
            <a:ext cx="475488" cy="475488"/>
          </a:xfrm>
          <a:prstGeom prst="ellipse">
            <a:avLst/>
          </a:prstGeom>
          <a:solidFill>
            <a:srgbClr val="4CABA5">
              <a:alpha val="80000"/>
            </a:srgbClr>
          </a:solidFill>
          <a:ln w="12700">
            <a:solidFill>
              <a:srgbClr val="4CABA5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2704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42416" y="1472184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Leitfrage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42416" y="17647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D5D0"/>
                </a:solidFill>
              </a:rPr>
              <a:t>Einstieg &amp; Diskussionsimpuls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4114800" cy="713232"/>
          </a:xfrm>
          <a:prstGeom prst="roundRect">
            <a:avLst>
              <a:gd name="adj" fmla="val 10256"/>
            </a:avLst>
          </a:prstGeom>
          <a:solidFill>
            <a:srgbClr val="2C7873">
              <a:alpha val="3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27048"/>
            <a:ext cx="475488" cy="475488"/>
          </a:xfrm>
          <a:prstGeom prst="ellipse">
            <a:avLst/>
          </a:prstGeom>
          <a:solidFill>
            <a:srgbClr val="4CABA5">
              <a:alpha val="80000"/>
            </a:srgbClr>
          </a:solidFill>
          <a:ln w="12700">
            <a:solidFill>
              <a:srgbClr val="4CABA5">
                <a:alpha val="8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2704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40096" y="1472184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Was ist Supervision?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40096" y="17647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D5D0"/>
                </a:solidFill>
              </a:rPr>
              <a:t>Definition &amp; Kernelemente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267712"/>
            <a:ext cx="4114800" cy="713232"/>
          </a:xfrm>
          <a:prstGeom prst="roundRect">
            <a:avLst>
              <a:gd name="adj" fmla="val 10256"/>
            </a:avLst>
          </a:prstGeom>
          <a:solidFill>
            <a:srgbClr val="2C7873">
              <a:alpha val="3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377440"/>
            <a:ext cx="475488" cy="475488"/>
          </a:xfrm>
          <a:prstGeom prst="ellipse">
            <a:avLst/>
          </a:prstGeom>
          <a:solidFill>
            <a:srgbClr val="4CABA5">
              <a:alpha val="80000"/>
            </a:srgbClr>
          </a:solidFill>
          <a:ln w="12700">
            <a:solidFill>
              <a:srgbClr val="4CABA5">
                <a:alpha val="8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3774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42416" y="2322576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Ziele von Supervision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261518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D5D0"/>
                </a:solidFill>
              </a:rPr>
              <a:t>Wozu dient sie?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267712"/>
            <a:ext cx="4114800" cy="713232"/>
          </a:xfrm>
          <a:prstGeom prst="roundRect">
            <a:avLst>
              <a:gd name="adj" fmla="val 10256"/>
            </a:avLst>
          </a:prstGeom>
          <a:solidFill>
            <a:srgbClr val="2C7873">
              <a:alpha val="3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0" y="2377440"/>
            <a:ext cx="475488" cy="475488"/>
          </a:xfrm>
          <a:prstGeom prst="ellipse">
            <a:avLst/>
          </a:prstGeom>
          <a:solidFill>
            <a:srgbClr val="4CABA5">
              <a:alpha val="80000"/>
            </a:srgbClr>
          </a:solidFill>
          <a:ln w="12700">
            <a:solidFill>
              <a:srgbClr val="4CABA5">
                <a:alpha val="8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23774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40096" y="2322576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Supervision an Schulen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0096" y="261518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D5D0"/>
                </a:solidFill>
              </a:rPr>
              <a:t>Warum gerade Schule?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118104"/>
            <a:ext cx="4114800" cy="713232"/>
          </a:xfrm>
          <a:prstGeom prst="roundRect">
            <a:avLst>
              <a:gd name="adj" fmla="val 10256"/>
            </a:avLst>
          </a:prstGeom>
          <a:solidFill>
            <a:srgbClr val="2C7873">
              <a:alpha val="3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27832"/>
            <a:ext cx="475488" cy="475488"/>
          </a:xfrm>
          <a:prstGeom prst="ellipse">
            <a:avLst/>
          </a:prstGeom>
          <a:solidFill>
            <a:srgbClr val="4CABA5">
              <a:alpha val="80000"/>
            </a:srgbClr>
          </a:solidFill>
          <a:ln w="12700">
            <a:solidFill>
              <a:srgbClr val="4CABA5">
                <a:alpha val="8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2278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42416" y="317296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Arten von Supervision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42416" y="346557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D5D0"/>
                </a:solidFill>
              </a:rPr>
              <a:t>Einzel-, Gruppen-, Teamsupervision …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3118104"/>
            <a:ext cx="4114800" cy="713232"/>
          </a:xfrm>
          <a:prstGeom prst="roundRect">
            <a:avLst>
              <a:gd name="adj" fmla="val 10256"/>
            </a:avLst>
          </a:prstGeom>
          <a:solidFill>
            <a:srgbClr val="2C7873">
              <a:alpha val="3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54880" y="3227832"/>
            <a:ext cx="475488" cy="475488"/>
          </a:xfrm>
          <a:prstGeom prst="ellipse">
            <a:avLst/>
          </a:prstGeom>
          <a:solidFill>
            <a:srgbClr val="4CABA5">
              <a:alpha val="80000"/>
            </a:srgbClr>
          </a:solidFill>
          <a:ln w="12700">
            <a:solidFill>
              <a:srgbClr val="4CABA5">
                <a:alpha val="8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2278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40096" y="317296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Was ist gute Supervision?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340096" y="346557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D5D0"/>
                </a:solidFill>
              </a:rPr>
              <a:t>Qualitätsmerkmale nach Möller (2012)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3968496"/>
            <a:ext cx="4114800" cy="713232"/>
          </a:xfrm>
          <a:prstGeom prst="roundRect">
            <a:avLst>
              <a:gd name="adj" fmla="val 10256"/>
            </a:avLst>
          </a:prstGeom>
          <a:solidFill>
            <a:srgbClr val="2C7873">
              <a:alpha val="3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4078224"/>
            <a:ext cx="475488" cy="475488"/>
          </a:xfrm>
          <a:prstGeom prst="ellipse">
            <a:avLst/>
          </a:prstGeom>
          <a:solidFill>
            <a:srgbClr val="4CABA5">
              <a:alpha val="80000"/>
            </a:srgbClr>
          </a:solidFill>
          <a:ln w="12700">
            <a:solidFill>
              <a:srgbClr val="4CABA5">
                <a:alpha val="8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42416" y="402336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Empirische Wirksamkeit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42416" y="4315968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D5D0"/>
                </a:solidFill>
              </a:rPr>
              <a:t>Studie Lauffer (2023) – Was sagt die Forschung?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63440" y="3968496"/>
            <a:ext cx="4114800" cy="713232"/>
          </a:xfrm>
          <a:prstGeom prst="roundRect">
            <a:avLst>
              <a:gd name="adj" fmla="val 10256"/>
            </a:avLst>
          </a:prstGeom>
          <a:solidFill>
            <a:srgbClr val="2C7873">
              <a:alpha val="3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54880" y="4078224"/>
            <a:ext cx="475488" cy="475488"/>
          </a:xfrm>
          <a:prstGeom prst="ellipse">
            <a:avLst/>
          </a:prstGeom>
          <a:solidFill>
            <a:srgbClr val="4CABA5">
              <a:alpha val="80000"/>
            </a:srgbClr>
          </a:solidFill>
          <a:ln w="12700">
            <a:solidFill>
              <a:srgbClr val="4CABA5">
                <a:alpha val="8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40096" y="402336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Gruppenarbeit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340096" y="4315968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D5D0"/>
                </a:solidFill>
              </a:rPr>
              <a:t>Kollegiale Fallberatung simulieren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7080"/>
                </a:solidFill>
              </a:rPr>
              <a:t>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1645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873"/>
                </a:solidFill>
              </a:rPr>
              <a:t>Einstieg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03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858000" y="457200"/>
            <a:ext cx="1920240" cy="1920240"/>
          </a:xfrm>
          <a:prstGeom prst="ellipse">
            <a:avLst/>
          </a:prstGeom>
          <a:solidFill>
            <a:srgbClr val="2C7873">
              <a:alpha val="15000"/>
            </a:srgbClr>
          </a:solidFill>
          <a:ln w="12700">
            <a:solidFill>
              <a:srgbClr val="2C7873">
                <a:alpha val="1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0" y="457200"/>
            <a:ext cx="19202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2C7873"/>
                </a:solidFill>
              </a:rPr>
              <a:t>?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6217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</a:t>
            </a:r>
            <a:r>
              <a:rPr lang="en-US" sz="2000" b="1" dirty="0" err="1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</a:t>
            </a:r>
            <a:r>
              <a:rPr lang="en-US" sz="20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Lehrkräfte</a:t>
            </a:r>
            <a:r>
              <a:rPr lang="en-US" sz="20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dabei unterstützen, schwierige schulische Situationen professionell zu reflektieren?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2514600"/>
            <a:ext cx="8412480" cy="0"/>
          </a:xfrm>
          <a:prstGeom prst="line">
            <a:avLst/>
          </a:prstGeom>
          <a:noFill/>
          <a:ln w="19050">
            <a:solidFill>
              <a:srgbClr val="D5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651760"/>
            <a:ext cx="8412480" cy="2194560"/>
          </a:xfrm>
          <a:prstGeom prst="rect">
            <a:avLst/>
          </a:prstGeom>
          <a:solidFill>
            <a:srgbClr val="E8F0EE"/>
          </a:solidFill>
          <a:ln w="19050">
            <a:solidFill>
              <a:srgbClr val="4CAB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4320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7873"/>
                </a:solidFill>
              </a:rPr>
              <a:t>Impuls zur Diskussion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127248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„Denkt an eine belastende Situation aus Schule </a:t>
            </a:r>
            <a:r>
              <a:rPr lang="en-US" sz="1500" i="1" dirty="0" err="1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oder</a:t>
            </a:r>
            <a:r>
              <a:rPr lang="en-US" sz="1500" i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 </a:t>
            </a:r>
            <a:r>
              <a:rPr lang="en-US" sz="1500" i="1" dirty="0" err="1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Praxissemester</a:t>
            </a:r>
            <a:r>
              <a:rPr lang="en-US" sz="1500" i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Was </a:t>
            </a:r>
            <a:r>
              <a:rPr lang="en-US" sz="1500" i="1" dirty="0" err="1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wäre</a:t>
            </a:r>
            <a:r>
              <a:rPr lang="en-US" sz="1500" i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i="1" dirty="0" err="1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hilfreicher</a:t>
            </a:r>
            <a:r>
              <a:rPr lang="en-US" sz="1500" i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ein schneller Tipp oder ein strukturierter Reflexionsraum?“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7080"/>
                </a:solidFill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1645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873"/>
                </a:solidFill>
              </a:rPr>
              <a:t>Definition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03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Supervision?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3840480" cy="2743200"/>
          </a:xfrm>
          <a:prstGeom prst="rect">
            <a:avLst/>
          </a:prstGeom>
          <a:solidFill>
            <a:srgbClr val="F4F7F9"/>
          </a:solidFill>
          <a:ln w="12700">
            <a:solidFill>
              <a:srgbClr val="E0E8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3840480" cy="41148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Definition (DGSv)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3566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ist eine </a:t>
            </a:r>
            <a:r>
              <a:rPr lang="en-US" sz="125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berufliche Beratungsform</a:t>
            </a:r>
            <a:r>
              <a:rPr lang="en-US" sz="125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kein Coaching, keine Therapie, kein Ratgespräch.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bearbeitet Fragen, Konflikte und konkrete Situationen aus dem Arbeitsalltag.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Dabei werden berufliche Rolle, Handeln, Organisation und Arbeitsbeziehungen 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 reflektiert.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188720"/>
            <a:ext cx="4389120" cy="2743200"/>
          </a:xfrm>
          <a:prstGeom prst="rect">
            <a:avLst/>
          </a:prstGeom>
          <a:solidFill>
            <a:srgbClr val="E8F0EE"/>
          </a:solidFill>
          <a:ln w="12700">
            <a:solidFill>
              <a:srgbClr val="C5DE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1188720"/>
            <a:ext cx="4389120" cy="411480"/>
          </a:xfrm>
          <a:prstGeom prst="rect">
            <a:avLst/>
          </a:prstGeom>
          <a:solidFill>
            <a:srgbClr val="2C7873"/>
          </a:solidFill>
          <a:ln w="12700">
            <a:solidFill>
              <a:srgbClr val="2C78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8872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Was Supervision ausmacht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1719072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7873"/>
                </a:solidFill>
              </a:rPr>
              <a:t>①  </a:t>
            </a:r>
            <a:r>
              <a:rPr lang="en-US" sz="1250" b="1" dirty="0">
                <a:solidFill>
                  <a:srgbClr val="1A2E5A"/>
                </a:solidFill>
              </a:rPr>
              <a:t>Berufsbegleitend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956816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die gesamte Berufsspanne – nicht nur in Krisen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2221992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7873"/>
                </a:solidFill>
              </a:rPr>
              <a:t>②  </a:t>
            </a:r>
            <a:r>
              <a:rPr lang="en-US" sz="1250" b="1" dirty="0">
                <a:solidFill>
                  <a:srgbClr val="1A2E5A"/>
                </a:solidFill>
              </a:rPr>
              <a:t>Fallbezogen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459736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Konkrete Situationen statt abstrakter Theoriediskussion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6280" y="2724912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7873"/>
                </a:solidFill>
              </a:rPr>
              <a:t>③  </a:t>
            </a:r>
            <a:r>
              <a:rPr lang="en-US" sz="1250" b="1" dirty="0">
                <a:solidFill>
                  <a:srgbClr val="1A2E5A"/>
                </a:solidFill>
              </a:rPr>
              <a:t>Professionell geleitet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2962656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Ausgebildete Supervisor*in moderiert den Prozess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227832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7873"/>
                </a:solidFill>
              </a:rPr>
              <a:t>④  </a:t>
            </a:r>
            <a:r>
              <a:rPr lang="en-US" sz="1250" b="1" dirty="0">
                <a:solidFill>
                  <a:srgbClr val="1A2E5A"/>
                </a:solidFill>
              </a:rPr>
              <a:t>Vertraulich &amp; freiwillig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3465576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Bericht an Schulleitung, keine Bewertung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041648"/>
            <a:ext cx="8412480" cy="82296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041648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macht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berufliches Handeln </a:t>
            </a:r>
            <a:r>
              <a:rPr lang="en-US" sz="1400" b="1" dirty="0">
                <a:solidFill>
                  <a:srgbClr val="4C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verstehbar und veränderbar.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7080"/>
                </a:solidFill>
              </a:rPr>
              <a:t>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1645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873"/>
                </a:solidFill>
              </a:rPr>
              <a:t>Ziele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03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Ziele von Supervision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7080"/>
                </a:solidFill>
              </a:rPr>
              <a:t>Supervision soll …  (Quelle: DGSv)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2624328" cy="1490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48056" y="1581912"/>
            <a:ext cx="475488" cy="475488"/>
          </a:xfrm>
          <a:prstGeom prst="ellipse">
            <a:avLst/>
          </a:prstGeom>
          <a:solidFill>
            <a:srgbClr val="2C7873"/>
          </a:solidFill>
          <a:ln w="12700">
            <a:solidFill>
              <a:srgbClr val="2C78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" y="15819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33272" y="158191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</a:rPr>
              <a:t>Rollenklarheit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8056" y="2121408"/>
            <a:ext cx="2377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Lehrkräfte klären, was zu ihrer beruflichen Rolle gehört – und was nicht mehr ihre alleinige Verantwortung ist.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36392" y="1417320"/>
            <a:ext cx="2624328" cy="1490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64408" y="1581912"/>
            <a:ext cx="475488" cy="475488"/>
          </a:xfrm>
          <a:prstGeom prst="ellipse">
            <a:avLst/>
          </a:prstGeom>
          <a:solidFill>
            <a:srgbClr val="2C7873"/>
          </a:solidFill>
          <a:ln w="12700">
            <a:solidFill>
              <a:srgbClr val="2C787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4408" y="15819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②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9624" y="158191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</a:rPr>
              <a:t>Kommunikation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64408" y="2121408"/>
            <a:ext cx="2377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Muster in Gesprächen sichtbar machen: Warum entstehen Missverständnisse mit Eltern oder im Kollegium?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52744" y="1417320"/>
            <a:ext cx="2624328" cy="1490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1581912"/>
            <a:ext cx="475488" cy="475488"/>
          </a:xfrm>
          <a:prstGeom prst="ellipse">
            <a:avLst/>
          </a:prstGeom>
          <a:solidFill>
            <a:srgbClr val="2C7873"/>
          </a:solidFill>
          <a:ln w="12700">
            <a:solidFill>
              <a:srgbClr val="2C78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15819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65976" y="158191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</a:rPr>
              <a:t>Konfliktbearbeitung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80760" y="2121408"/>
            <a:ext cx="2377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Konflikte strukturiert anschauen statt vermeiden – und gemeinsam Wege finden, ohne Schuldige zu suchen.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017520"/>
            <a:ext cx="2624328" cy="1490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8056" y="3182112"/>
            <a:ext cx="475488" cy="475488"/>
          </a:xfrm>
          <a:prstGeom prst="ellipse">
            <a:avLst/>
          </a:prstGeom>
          <a:solidFill>
            <a:srgbClr val="2C7873"/>
          </a:solidFill>
          <a:ln w="12700">
            <a:solidFill>
              <a:srgbClr val="2C78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" y="31821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④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33272" y="318211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</a:rPr>
              <a:t>Wahrnehmung erweitern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8056" y="3721608"/>
            <a:ext cx="2377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blinde Flecken entdecken: Wie sehen andere die Situation? Welche Handlungsmöglichkeiten gibt es?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36392" y="3017520"/>
            <a:ext cx="2624328" cy="1490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64408" y="3182112"/>
            <a:ext cx="475488" cy="475488"/>
          </a:xfrm>
          <a:prstGeom prst="ellipse">
            <a:avLst/>
          </a:prstGeom>
          <a:solidFill>
            <a:srgbClr val="2C7873"/>
          </a:solidFill>
          <a:ln w="12700">
            <a:solidFill>
              <a:srgbClr val="2C787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64408" y="31821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⑤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849624" y="318211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</a:rPr>
              <a:t>Entlastung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64408" y="3721608"/>
            <a:ext cx="2377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Belastende Erlebnisse ausprechen und </a:t>
            </a:r>
            <a:r>
              <a:rPr lang="en-US" sz="1050" dirty="0" err="1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einordnen</a:t>
            </a: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Das schützt vor Erschöpfung und Burnout.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52744" y="3017520"/>
            <a:ext cx="2624328" cy="1490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3182112"/>
            <a:ext cx="475488" cy="475488"/>
          </a:xfrm>
          <a:prstGeom prst="ellipse">
            <a:avLst/>
          </a:prstGeom>
          <a:solidFill>
            <a:srgbClr val="2C7873"/>
          </a:solidFill>
          <a:ln w="12700">
            <a:solidFill>
              <a:srgbClr val="2C78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80760" y="31821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⑥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65976" y="318211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5A"/>
                </a:solidFill>
              </a:rPr>
              <a:t>Professionalität stärken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080760" y="3721608"/>
            <a:ext cx="2377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einzelnen Fällen lernen und das eigene Handeln nachhaltig weiterentwickeln.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7080"/>
                </a:solidFill>
              </a:rPr>
              <a:t>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1645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873"/>
                </a:solidFill>
              </a:rPr>
              <a:t>Kontext Schule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03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an Schulen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023360" cy="3611880"/>
          </a:xfrm>
          <a:prstGeom prst="rect">
            <a:avLst/>
          </a:prstGeom>
          <a:solidFill>
            <a:srgbClr val="F4F7F9"/>
          </a:solidFill>
          <a:ln w="12700">
            <a:solidFill>
              <a:srgbClr val="E0E8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4023360" cy="41148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Warum gerade Schule?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Lehrkräfte befinden sich täglich in einem komplexen Beziehungsgeflecht – das kostet Kraft: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258568"/>
            <a:ext cx="3749040" cy="384048"/>
          </a:xfrm>
          <a:prstGeom prst="roundRect">
            <a:avLst>
              <a:gd name="adj" fmla="val 14286"/>
            </a:avLst>
          </a:prstGeom>
          <a:solidFill>
            <a:srgbClr val="E8F0EE"/>
          </a:solidFill>
          <a:ln w="12700">
            <a:solidFill>
              <a:srgbClr val="4CAB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5856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7873"/>
                </a:solidFill>
              </a:rPr>
              <a:t>Schüler*innen  </a:t>
            </a:r>
            <a:r>
              <a:rPr lang="en-US" sz="1150" dirty="0">
                <a:solidFill>
                  <a:srgbClr val="5C7080"/>
                </a:solidFill>
              </a:rPr>
              <a:t>Unterrichten, erziehen, fördern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734056"/>
            <a:ext cx="3749040" cy="384048"/>
          </a:xfrm>
          <a:prstGeom prst="roundRect">
            <a:avLst>
              <a:gd name="adj" fmla="val 14286"/>
            </a:avLst>
          </a:prstGeom>
          <a:solidFill>
            <a:srgbClr val="E8F0EE"/>
          </a:solidFill>
          <a:ln w="12700">
            <a:solidFill>
              <a:srgbClr val="4CAB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34056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7873"/>
                </a:solidFill>
              </a:rPr>
              <a:t>Eltern  </a:t>
            </a:r>
            <a:r>
              <a:rPr lang="en-US" sz="1150" dirty="0">
                <a:solidFill>
                  <a:srgbClr val="5C7080"/>
                </a:solidFill>
              </a:rPr>
              <a:t>Kommunizieren, beraten, begrenzen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209544"/>
            <a:ext cx="3749040" cy="384048"/>
          </a:xfrm>
          <a:prstGeom prst="roundRect">
            <a:avLst>
              <a:gd name="adj" fmla="val 14286"/>
            </a:avLst>
          </a:prstGeom>
          <a:solidFill>
            <a:srgbClr val="E8F0EE"/>
          </a:solidFill>
          <a:ln w="12700">
            <a:solidFill>
              <a:srgbClr val="4CAB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09544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7873"/>
                </a:solidFill>
              </a:rPr>
              <a:t>Kollegium  </a:t>
            </a:r>
            <a:r>
              <a:rPr lang="en-US" sz="1150" dirty="0">
                <a:solidFill>
                  <a:srgbClr val="5C7080"/>
                </a:solidFill>
              </a:rPr>
              <a:t>Kooperieren, abstimmen, aushalten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685032"/>
            <a:ext cx="3749040" cy="384048"/>
          </a:xfrm>
          <a:prstGeom prst="roundRect">
            <a:avLst>
              <a:gd name="adj" fmla="val 14286"/>
            </a:avLst>
          </a:prstGeom>
          <a:solidFill>
            <a:srgbClr val="E8F0EE"/>
          </a:solidFill>
          <a:ln w="12700">
            <a:solidFill>
              <a:srgbClr val="4CAB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685032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7873"/>
                </a:solidFill>
              </a:rPr>
              <a:t>Schulleitung  </a:t>
            </a:r>
            <a:r>
              <a:rPr lang="en-US" sz="1150" dirty="0">
                <a:solidFill>
                  <a:srgbClr val="5C7080"/>
                </a:solidFill>
              </a:rPr>
              <a:t>Berichten, erfüllen, vertreten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160520"/>
            <a:ext cx="3749040" cy="384048"/>
          </a:xfrm>
          <a:prstGeom prst="roundRect">
            <a:avLst>
              <a:gd name="adj" fmla="val 14286"/>
            </a:avLst>
          </a:prstGeom>
          <a:solidFill>
            <a:srgbClr val="E8F0EE"/>
          </a:solidFill>
          <a:ln w="12700">
            <a:solidFill>
              <a:srgbClr val="4CAB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16052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7873"/>
                </a:solidFill>
              </a:rPr>
              <a:t>Institutionelle Vorgaben  </a:t>
            </a:r>
            <a:r>
              <a:rPr lang="en-US" sz="1150" dirty="0">
                <a:solidFill>
                  <a:srgbClr val="5C7080"/>
                </a:solidFill>
              </a:rPr>
              <a:t>Lehrpläne, Inklusion, Protokolle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0" y="1188720"/>
            <a:ext cx="4206240" cy="3611880"/>
          </a:xfrm>
          <a:prstGeom prst="rect">
            <a:avLst/>
          </a:prstGeom>
          <a:solidFill>
            <a:srgbClr val="E8F0EE"/>
          </a:solidFill>
          <a:ln w="12700">
            <a:solidFill>
              <a:srgbClr val="C5DE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1188720"/>
            <a:ext cx="4206240" cy="411480"/>
          </a:xfrm>
          <a:prstGeom prst="rect">
            <a:avLst/>
          </a:prstGeom>
          <a:solidFill>
            <a:srgbClr val="2C7873"/>
          </a:solidFill>
          <a:ln w="12700">
            <a:solidFill>
              <a:srgbClr val="2C78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1887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So läuft schulische Supervision ab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1719072"/>
            <a:ext cx="38862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Fokus: </a:t>
            </a:r>
            <a:r>
              <a:rPr lang="en-US" sz="12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 der Lehrkräfte mit Schüler*innen – keine Therapie, keine Beurteilung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09160" y="2331720"/>
            <a:ext cx="38862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r>
              <a:rPr lang="en-US" sz="12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8–10 Lehrkräfte, aus einer oder verschiedenen Schulen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944368"/>
            <a:ext cx="38862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Rhythmus: </a:t>
            </a:r>
            <a:r>
              <a:rPr lang="en-US" sz="12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Sitzungen alle ca. zwei Monate, freiwillig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09160" y="3557016"/>
            <a:ext cx="38862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Leitung: </a:t>
            </a:r>
            <a:r>
              <a:rPr lang="en-US" sz="12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Schulpsycholog*in mit Supervisionsausbildung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09160" y="4169664"/>
            <a:ext cx="38862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Rahmen: </a:t>
            </a:r>
            <a:r>
              <a:rPr lang="en-US" sz="12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und kostenfrei (Bayern)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489204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C7080"/>
                </a:solidFill>
              </a:rPr>
              <a:t>Quelle: Lauffer (2023), Bayerisches Staatsministerium für Unterricht und Kultus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E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090A0"/>
                </a:solidFill>
              </a:rPr>
              <a:t>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1645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BA5"/>
                </a:solidFill>
              </a:rPr>
              <a:t>Settings &amp; Formen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03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Arten von Supervision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ABFC4"/>
                </a:solidFill>
              </a:rPr>
              <a:t>Je nach Anliegen wählt man ein anderes Setting – die fünf wichtigsten im Überblick: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56032" y="1417320"/>
            <a:ext cx="1645920" cy="3520440"/>
          </a:xfrm>
          <a:prstGeom prst="rect">
            <a:avLst/>
          </a:prstGeom>
          <a:solidFill>
            <a:srgbClr val="2C7873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508760"/>
            <a:ext cx="585216" cy="585216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50876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1:1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9184" y="2176272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Einzel-S.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29184" y="2651760"/>
            <a:ext cx="149961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reflektiert allein mit der Supervisor*in – z.B. Rollenprobleme, persönliche Krisen, schwierige Entscheidungen.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9184" y="3968496"/>
            <a:ext cx="14996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ECEC9"/>
                </a:solidFill>
              </a:rPr>
              <a:t>z.B. Lehrkraft bespricht anhaltende Belastung durch eine Klasse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002536" y="1417320"/>
            <a:ext cx="1645920" cy="3520440"/>
          </a:xfrm>
          <a:prstGeom prst="rect">
            <a:avLst/>
          </a:prstGeom>
          <a:solidFill>
            <a:srgbClr val="338B85">
              <a:alpha val="9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2888" y="1508760"/>
            <a:ext cx="585216" cy="585216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32888" y="150876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75688" y="2176272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Gruppen-S.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075688" y="2651760"/>
            <a:ext cx="149961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Personen aus ähnlichen Rollen, aber verschiedenen Institutionen – kollegialer Austausch ohne Hierarchie.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75688" y="3968496"/>
            <a:ext cx="14996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ECEC9"/>
                </a:solidFill>
              </a:rPr>
              <a:t>z.B. Lehrkräfte verschiedener Schulen treffen sich regelmäßig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49040" y="1417320"/>
            <a:ext cx="1645920" cy="3520440"/>
          </a:xfrm>
          <a:prstGeom prst="rect">
            <a:avLst/>
          </a:prstGeom>
          <a:solidFill>
            <a:srgbClr val="3A9E97">
              <a:alpha val="84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79392" y="1508760"/>
            <a:ext cx="585216" cy="585216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79392" y="150876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22192" y="2176272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Team-S.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822192" y="2651760"/>
            <a:ext cx="149961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bestehendes Team arbeitet an gemeinsamen Fällen – Strukturen und Zusammenarbeit stehen im Fokus.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822192" y="3968496"/>
            <a:ext cx="14996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ECEC9"/>
                </a:solidFill>
              </a:rPr>
              <a:t>z.B. Jahrgangsteam, Klassenteam, Förderschulteam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95544" y="1417320"/>
            <a:ext cx="1645920" cy="3520440"/>
          </a:xfrm>
          <a:prstGeom prst="rect">
            <a:avLst/>
          </a:prstGeom>
          <a:solidFill>
            <a:srgbClr val="41B2AA">
              <a:alpha val="76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25896" y="1508760"/>
            <a:ext cx="585216" cy="585216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25896" y="150876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568696" y="2176272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Organisations-S.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568696" y="2651760"/>
            <a:ext cx="149961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Blick auf die Schule als System: Leitung, Konfliktlinien, strukturelle Probleme – nicht nur Einzelfälle.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68696" y="3968496"/>
            <a:ext cx="14996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ECEC9"/>
                </a:solidFill>
              </a:rPr>
              <a:t>z.B. Spannungen zwischen Kollegium und Schulleitung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242048" y="1417320"/>
            <a:ext cx="1645920" cy="3520440"/>
          </a:xfrm>
          <a:prstGeom prst="rect">
            <a:avLst/>
          </a:prstGeom>
          <a:solidFill>
            <a:srgbClr val="48C5BC">
              <a:alpha val="6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0" y="1508760"/>
            <a:ext cx="585216" cy="585216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0" y="150876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315200" y="2176272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Konzept-S.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315200" y="2651760"/>
            <a:ext cx="149961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bestehendes Konzept wird kritisch geprüft und weiterentwickelt – praxisnah und teamübergreifend.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15200" y="3968496"/>
            <a:ext cx="14996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ECEC9"/>
                </a:solidFill>
              </a:rPr>
              <a:t>z.B. Förderkonzept oder Umgang mit herausforderndem Verhalten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7080"/>
                </a:solidFill>
              </a:rPr>
              <a:t>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1645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873"/>
                </a:solidFill>
              </a:rPr>
              <a:t>Qualität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03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gute Supervision?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7080"/>
                </a:solidFill>
              </a:rPr>
              <a:t>Qualitätsmerkmale nach Möller (2012) – nicht jede Beratung ist automatisch gute Supervision: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2624328" cy="1517904"/>
          </a:xfrm>
          <a:prstGeom prst="rect">
            <a:avLst/>
          </a:prstGeom>
          <a:solidFill>
            <a:srgbClr val="F4F7F9"/>
          </a:solidFill>
          <a:ln w="12700">
            <a:solidFill>
              <a:srgbClr val="D5E5E3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527048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CABA5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50392" y="152704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5A"/>
                </a:solidFill>
              </a:rPr>
              <a:t>Aufgabenorientiert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1947672"/>
            <a:ext cx="23774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Fokus bleibt auf dem beruflichen Handeln – keine ausufernden Privatgespräche, kein reines Dampfablassen.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36392" y="1417320"/>
            <a:ext cx="2624328" cy="1517904"/>
          </a:xfrm>
          <a:prstGeom prst="rect">
            <a:avLst/>
          </a:prstGeom>
          <a:solidFill>
            <a:srgbClr val="F4F7F9"/>
          </a:solidFill>
          <a:ln w="12700">
            <a:solidFill>
              <a:srgbClr val="D5E5E3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73552" y="1527048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CABA5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66744" y="152704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5A"/>
                </a:solidFill>
              </a:rPr>
              <a:t>Mehrperspektivisch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73552" y="1947672"/>
            <a:ext cx="23774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Verschiedene Sichtweisen werden aktiv eingeholt: Wie sehen andere Beteiligte die Situation?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52744" y="1417320"/>
            <a:ext cx="2624328" cy="1517904"/>
          </a:xfrm>
          <a:prstGeom prst="rect">
            <a:avLst/>
          </a:prstGeom>
          <a:solidFill>
            <a:srgbClr val="F4F7F9"/>
          </a:solidFill>
          <a:ln w="12700">
            <a:solidFill>
              <a:srgbClr val="D5E5E3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89904" y="1527048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CABA5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83096" y="152704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5A"/>
                </a:solidFill>
              </a:rPr>
              <a:t>Ressourcenorientiert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89904" y="1947672"/>
            <a:ext cx="23774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funktioniert bereits? Stärken und Kompetenzen der Supervisand*innen sind der Ausgangspunkt.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3035808"/>
            <a:ext cx="2624328" cy="1517904"/>
          </a:xfrm>
          <a:prstGeom prst="rect">
            <a:avLst/>
          </a:prstGeom>
          <a:solidFill>
            <a:srgbClr val="F4F7F9"/>
          </a:solidFill>
          <a:ln w="12700">
            <a:solidFill>
              <a:srgbClr val="D5E5E3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3145536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CABA5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0392" y="314553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5A"/>
                </a:solidFill>
              </a:rPr>
              <a:t>Fachlich fundiert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3566160"/>
            <a:ext cx="23774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Supervisor*in bringt Feldkompetenz (Schule) und theoretisches Wissen mit – nicht nur Gesprächsmoderation.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36392" y="3035808"/>
            <a:ext cx="2624328" cy="1517904"/>
          </a:xfrm>
          <a:prstGeom prst="rect">
            <a:avLst/>
          </a:prstGeom>
          <a:solidFill>
            <a:srgbClr val="F4F7F9"/>
          </a:solidFill>
          <a:ln w="12700">
            <a:solidFill>
              <a:srgbClr val="D5E5E3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273552" y="3145536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CABA5"/>
                </a:solidFill>
              </a:rPr>
              <a:t>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666744" y="314553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5A"/>
                </a:solidFill>
              </a:rPr>
              <a:t>Allparteilich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273552" y="3566160"/>
            <a:ext cx="23774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vorschnellen Urteile, kein Schuldigen-Suchen – alle Perspektiven (auch die von Schüler*innen) werden ernst genommen.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52744" y="3035808"/>
            <a:ext cx="2624328" cy="1517904"/>
          </a:xfrm>
          <a:prstGeom prst="rect">
            <a:avLst/>
          </a:prstGeom>
          <a:solidFill>
            <a:srgbClr val="F4F7F9"/>
          </a:solidFill>
          <a:ln w="12700">
            <a:solidFill>
              <a:srgbClr val="D5E5E3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089904" y="3145536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CABA5"/>
                </a:solidFill>
              </a:rPr>
              <a:t>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83096" y="314553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5A"/>
                </a:solidFill>
              </a:rPr>
              <a:t>Klar gerahmt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089904" y="3566160"/>
            <a:ext cx="23774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Ziel, Rolle, Setting und Schweigepflicht sind zu Beginn transparent vereinbart – damit Vertrauen entstehen kann.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7080"/>
                </a:solidFill>
              </a:rPr>
              <a:t>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" y="1645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873"/>
                </a:solidFill>
              </a:rPr>
              <a:t>Empirie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03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Empirische Wirksamkeit von Supervision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7080"/>
                </a:solidFill>
              </a:rPr>
              <a:t>Lauffer (2023): Supervision, kollegiale Fallberatung und Coaching für Lehrkräfte in Bayern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12748"/>
            <a:ext cx="3931920" cy="2865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417320"/>
            <a:ext cx="3931920" cy="411480"/>
          </a:xfrm>
          <a:prstGeom prst="rect">
            <a:avLst/>
          </a:prstGeom>
          <a:solidFill>
            <a:srgbClr val="1A2E5A"/>
          </a:solidFill>
          <a:ln w="12700">
            <a:solidFill>
              <a:srgbClr val="1A2E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Studiendesign – einfach erklärt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0352" y="192024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Quasi-experimentell:  </a:t>
            </a:r>
            <a:r>
              <a:rPr lang="en-US" sz="1100" dirty="0" err="1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Teilnehmer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*innen entschieden selbst, ob sie mitmachen.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5780" y="2363724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Prä-Post-Design:  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 vor Beginn der Maßnahme und danach – so lässt sich eine Veränderung sichtbar machen.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0352" y="2884799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Interventions-/Kontrollgruppe:  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eine Gruppe erhielt Supervision, die andere nicht – Vergleich zeigt den Unterschied.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25780" y="3545937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AVEM-Fragebogen:  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Standardisiertes Instrument zur beruflichen Belastung: misst Muster wie gesundes Engagement, Risikomuster A (Überengagement) oder B (Resignation).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80560" y="1417320"/>
            <a:ext cx="4297680" cy="28610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80560" y="1417320"/>
            <a:ext cx="4297680" cy="411480"/>
          </a:xfrm>
          <a:prstGeom prst="rect">
            <a:avLst/>
          </a:prstGeom>
          <a:solidFill>
            <a:srgbClr val="2C7873"/>
          </a:solidFill>
          <a:ln w="12700">
            <a:solidFill>
              <a:srgbClr val="2C78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4173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Zentrale Ergebnisse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17720" y="1920240"/>
            <a:ext cx="3977640" cy="548640"/>
          </a:xfrm>
          <a:prstGeom prst="roundRect">
            <a:avLst>
              <a:gd name="adj" fmla="val 10000"/>
            </a:avLst>
          </a:prstGeom>
          <a:solidFill>
            <a:srgbClr val="E8F0EE"/>
          </a:solidFill>
          <a:ln w="12700">
            <a:solidFill>
              <a:srgbClr val="4CAB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192024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Lehrkräfte mit Supervision waren danach </a:t>
            </a:r>
            <a:r>
              <a:rPr lang="en-US" sz="11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berufsbezogen gesünder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als die Kontrollgruppe.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17720" y="2514600"/>
            <a:ext cx="3977640" cy="548640"/>
          </a:xfrm>
          <a:prstGeom prst="roundRect">
            <a:avLst>
              <a:gd name="adj" fmla="val 10000"/>
            </a:avLst>
          </a:prstGeom>
          <a:solidFill>
            <a:srgbClr val="E8F0EE"/>
          </a:solidFill>
          <a:ln w="12700">
            <a:solidFill>
              <a:srgbClr val="4CAB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253172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Gesundheitsförderliche Muster </a:t>
            </a:r>
            <a:r>
              <a:rPr lang="en-US" sz="1100" b="1" dirty="0" err="1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nahmen</a:t>
            </a:r>
            <a:r>
              <a:rPr lang="en-US" sz="11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 der Kontrollgruppe nahmen sie ab.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17720" y="3099816"/>
            <a:ext cx="3977640" cy="548640"/>
          </a:xfrm>
          <a:prstGeom prst="roundRect">
            <a:avLst>
              <a:gd name="adj" fmla="val 10000"/>
            </a:avLst>
          </a:prstGeom>
          <a:solidFill>
            <a:srgbClr val="E8F0EE"/>
          </a:solidFill>
          <a:ln w="12700">
            <a:solidFill>
              <a:srgbClr val="4CAB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310215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</a:t>
            </a:r>
            <a:r>
              <a:rPr lang="en-US" sz="1100" dirty="0" err="1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Risikomuster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gingen</a:t>
            </a:r>
            <a:r>
              <a:rPr lang="en-US" sz="11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zurück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617720" y="3685032"/>
            <a:ext cx="3977640" cy="548640"/>
          </a:xfrm>
          <a:prstGeom prst="roundRect">
            <a:avLst>
              <a:gd name="adj" fmla="val 10000"/>
            </a:avLst>
          </a:prstGeom>
          <a:solidFill>
            <a:srgbClr val="E8F0EE"/>
          </a:solidFill>
          <a:ln w="12700">
            <a:solidFill>
              <a:srgbClr val="4CABA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3691506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Subjektiv berichteten Lehrkräfte von </a:t>
            </a:r>
            <a:r>
              <a:rPr lang="en-US" sz="1100" b="1" dirty="0">
                <a:solidFill>
                  <a:srgbClr val="2C7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 Handlungsoptionen und weniger Hilflosigkeit</a:t>
            </a:r>
            <a:r>
              <a:rPr lang="en-US" sz="1100" dirty="0">
                <a:solidFill>
                  <a:srgbClr val="1A2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71099" y="4318572"/>
            <a:ext cx="8412480" cy="626063"/>
          </a:xfrm>
          <a:prstGeom prst="rect">
            <a:avLst/>
          </a:prstGeom>
          <a:solidFill>
            <a:srgbClr val="FFF8E8"/>
          </a:solidFill>
          <a:ln w="12700">
            <a:solidFill>
              <a:srgbClr val="E8D5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7712" y="4251927"/>
            <a:ext cx="80467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07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Einschränkung: </a:t>
            </a:r>
            <a:r>
              <a:rPr lang="en-US" sz="1200" dirty="0">
                <a:solidFill>
                  <a:srgbClr val="6B5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Randomisierung, nur zwei Messzeitpunkte – daher keine Kausalität, aber wertvolle erste Hinweise auf Wirksamkeit.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E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-594360" y="3744469"/>
            <a:ext cx="2286000" cy="2286000"/>
          </a:xfrm>
          <a:prstGeom prst="ellipse">
            <a:avLst/>
          </a:prstGeom>
          <a:solidFill>
            <a:srgbClr val="4CABA5">
              <a:alpha val="25000"/>
            </a:srgbClr>
          </a:solidFill>
          <a:ln w="12700">
            <a:solidFill>
              <a:srgbClr val="4CABA5">
                <a:alpha val="2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090A0"/>
                </a:solidFill>
              </a:rPr>
              <a:t>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68680" y="1645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BA5"/>
                </a:solidFill>
              </a:rPr>
              <a:t>Gruppenarbeit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303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Kollegiale Fallberatung simulieren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CABA5"/>
                </a:solidFill>
              </a:rPr>
              <a:t>Szenario: Teamteaching an einer Förderschule mit Schwerpunkt ESE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481328"/>
            <a:ext cx="5120640" cy="1444752"/>
          </a:xfrm>
          <a:prstGeom prst="rect">
            <a:avLst/>
          </a:prstGeom>
          <a:solidFill>
            <a:srgbClr val="2C7873">
              <a:alpha val="2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544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BA5"/>
                </a:solidFill>
              </a:rPr>
              <a:t>Fallkontext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9202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Lehrkräfte unterrichten gemeinsam eine Klasse mit Schüler*innen mit dem Förderschwerpunkt Emotionale und soziale Entwicklung (ESE). Im Team entstehen Spannungen darüber, wer in bestimmten Situationen eingreift – und wer sich herausnehmen </a:t>
            </a:r>
            <a:r>
              <a:rPr lang="en-US" sz="1150" dirty="0" err="1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darf</a:t>
            </a:r>
            <a:r>
              <a:rPr lang="en-US" sz="115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50" dirty="0" err="1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Dadurch</a:t>
            </a:r>
            <a:r>
              <a:rPr lang="en-US" sz="115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entsteht</a:t>
            </a:r>
            <a:r>
              <a:rPr lang="en-US" sz="115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</a:t>
            </a:r>
            <a:r>
              <a:rPr lang="en-US" sz="115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instabile</a:t>
            </a:r>
            <a:r>
              <a:rPr lang="en-US" sz="115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Lernumgebung</a:t>
            </a:r>
            <a:r>
              <a:rPr lang="en-US" sz="115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</a:t>
            </a:r>
            <a:r>
              <a:rPr lang="en-US" sz="115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die </a:t>
            </a:r>
            <a:r>
              <a:rPr lang="en-US" sz="1150" dirty="0" err="1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Schüler</a:t>
            </a:r>
            <a:r>
              <a:rPr lang="en-US" sz="115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1150" dirty="0" err="1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</a:t>
            </a:r>
            <a:r>
              <a:rPr lang="en-US" sz="1150" dirty="0">
                <a:solidFill>
                  <a:srgbClr val="D0EB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035807"/>
            <a:ext cx="1600200" cy="1719069"/>
          </a:xfrm>
          <a:prstGeom prst="roundRect">
            <a:avLst>
              <a:gd name="adj" fmla="val 6250"/>
            </a:avLst>
          </a:prstGeom>
          <a:solidFill>
            <a:srgbClr val="2C7873">
              <a:alpha val="5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3090672"/>
            <a:ext cx="566928" cy="566928"/>
          </a:xfrm>
          <a:prstGeom prst="ellipse">
            <a:avLst/>
          </a:prstGeom>
          <a:solidFill>
            <a:srgbClr val="4CABA5">
              <a:alpha val="90000"/>
            </a:srgbClr>
          </a:solidFill>
          <a:ln w="12700">
            <a:solidFill>
              <a:srgbClr val="4CABA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7824" y="30906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3721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</a:rPr>
              <a:t>Gruppenaufteilung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08736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 err="1">
                <a:solidFill>
                  <a:srgbClr val="A8D5D0"/>
                </a:solidFill>
              </a:rPr>
              <a:t>Im</a:t>
            </a:r>
            <a:r>
              <a:rPr lang="en-US" sz="950" i="1" dirty="0">
                <a:solidFill>
                  <a:srgbClr val="A8D5D0"/>
                </a:solidFill>
              </a:rPr>
              <a:t> Plenum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84832" y="3035808"/>
            <a:ext cx="1600200" cy="1719070"/>
          </a:xfrm>
          <a:prstGeom prst="roundRect">
            <a:avLst>
              <a:gd name="adj" fmla="val 6250"/>
            </a:avLst>
          </a:prstGeom>
          <a:solidFill>
            <a:srgbClr val="2C7873">
              <a:alpha val="5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96896" y="3090672"/>
            <a:ext cx="566928" cy="566928"/>
          </a:xfrm>
          <a:prstGeom prst="ellipse">
            <a:avLst/>
          </a:prstGeom>
          <a:solidFill>
            <a:srgbClr val="4CABA5">
              <a:alpha val="90000"/>
            </a:srgbClr>
          </a:solidFill>
          <a:ln w="12700">
            <a:solidFill>
              <a:srgbClr val="4CABA5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96896" y="30906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176272" y="3721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QR-Code </a:t>
            </a:r>
            <a:r>
              <a:rPr lang="en-US" sz="1100" b="1" dirty="0" err="1">
                <a:solidFill>
                  <a:srgbClr val="FFFFFF"/>
                </a:solidFill>
              </a:rPr>
              <a:t>scannen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76272" y="408736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 err="1">
                <a:solidFill>
                  <a:srgbClr val="A8D5D0"/>
                </a:solidFill>
              </a:rPr>
              <a:t>Anweisungen</a:t>
            </a:r>
            <a:r>
              <a:rPr lang="en-US" sz="950" i="1" dirty="0">
                <a:solidFill>
                  <a:srgbClr val="A8D5D0"/>
                </a:solidFill>
              </a:rPr>
              <a:t> </a:t>
            </a:r>
            <a:r>
              <a:rPr lang="en-US" sz="950" i="1" dirty="0" err="1">
                <a:solidFill>
                  <a:srgbClr val="A8D5D0"/>
                </a:solidFill>
              </a:rPr>
              <a:t>folgen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803904" y="3035808"/>
            <a:ext cx="1600200" cy="1719072"/>
          </a:xfrm>
          <a:prstGeom prst="roundRect">
            <a:avLst>
              <a:gd name="adj" fmla="val 6250"/>
            </a:avLst>
          </a:prstGeom>
          <a:solidFill>
            <a:srgbClr val="2C7873">
              <a:alpha val="5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3090672"/>
            <a:ext cx="566928" cy="566928"/>
          </a:xfrm>
          <a:prstGeom prst="ellipse">
            <a:avLst/>
          </a:prstGeom>
          <a:solidFill>
            <a:srgbClr val="4CABA5">
              <a:alpha val="90000"/>
            </a:srgbClr>
          </a:solidFill>
          <a:ln w="12700">
            <a:solidFill>
              <a:srgbClr val="4CABA5">
                <a:alpha val="9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30906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895344" y="3721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</a:rPr>
              <a:t>Selbstständige</a:t>
            </a:r>
            <a:r>
              <a:rPr lang="en-US" sz="1100" b="1" dirty="0">
                <a:solidFill>
                  <a:srgbClr val="FFFFFF"/>
                </a:solidFill>
              </a:rPr>
              <a:t> </a:t>
            </a:r>
            <a:r>
              <a:rPr lang="en-US" sz="1100" b="1" dirty="0" err="1">
                <a:solidFill>
                  <a:srgbClr val="FFFFFF"/>
                </a:solidFill>
              </a:rPr>
              <a:t>Rolleneinteilung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95344" y="41788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 err="1">
                <a:solidFill>
                  <a:srgbClr val="A8D5D0"/>
                </a:solidFill>
              </a:rPr>
              <a:t>Benutzung</a:t>
            </a:r>
            <a:r>
              <a:rPr lang="en-US" sz="950" i="1" dirty="0">
                <a:solidFill>
                  <a:srgbClr val="A8D5D0"/>
                </a:solidFill>
              </a:rPr>
              <a:t> des Online-Tools </a:t>
            </a:r>
            <a:r>
              <a:rPr lang="en-US" sz="950" i="1" dirty="0" err="1">
                <a:solidFill>
                  <a:srgbClr val="A8D5D0"/>
                </a:solidFill>
              </a:rPr>
              <a:t>unter</a:t>
            </a:r>
            <a:r>
              <a:rPr lang="en-US" sz="950" i="1" dirty="0">
                <a:solidFill>
                  <a:srgbClr val="A8D5D0"/>
                </a:solidFill>
              </a:rPr>
              <a:t> </a:t>
            </a:r>
            <a:r>
              <a:rPr lang="en-US" sz="950" i="1" dirty="0" err="1">
                <a:solidFill>
                  <a:srgbClr val="A8D5D0"/>
                </a:solidFill>
              </a:rPr>
              <a:t>Angabe</a:t>
            </a:r>
            <a:r>
              <a:rPr lang="en-US" sz="950" i="1" dirty="0">
                <a:solidFill>
                  <a:srgbClr val="A8D5D0"/>
                </a:solidFill>
              </a:rPr>
              <a:t> der </a:t>
            </a:r>
            <a:r>
              <a:rPr lang="en-US" sz="950" i="1" dirty="0" err="1">
                <a:solidFill>
                  <a:srgbClr val="A8D5D0"/>
                </a:solidFill>
              </a:rPr>
              <a:t>Geräteverfügbarkeit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22976" y="3035807"/>
            <a:ext cx="1600200" cy="1719071"/>
          </a:xfrm>
          <a:prstGeom prst="roundRect">
            <a:avLst>
              <a:gd name="adj" fmla="val 6250"/>
            </a:avLst>
          </a:prstGeom>
          <a:solidFill>
            <a:srgbClr val="2C7873">
              <a:alpha val="5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35040" y="3090672"/>
            <a:ext cx="566928" cy="566928"/>
          </a:xfrm>
          <a:prstGeom prst="ellipse">
            <a:avLst/>
          </a:prstGeom>
          <a:solidFill>
            <a:srgbClr val="4CABA5">
              <a:alpha val="90000"/>
            </a:srgbClr>
          </a:solidFill>
          <a:ln w="12700">
            <a:solidFill>
              <a:srgbClr val="4CABA5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0" y="30906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614416" y="3721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</a:rPr>
              <a:t>Durchführung</a:t>
            </a:r>
            <a:r>
              <a:rPr lang="en-US" sz="1100" b="1" dirty="0">
                <a:solidFill>
                  <a:srgbClr val="FFFFFF"/>
                </a:solidFill>
              </a:rPr>
              <a:t> der Simulation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14416" y="408736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 err="1">
                <a:solidFill>
                  <a:srgbClr val="A8D5D0"/>
                </a:solidFill>
              </a:rPr>
              <a:t>Kieler</a:t>
            </a:r>
            <a:r>
              <a:rPr lang="en-US" sz="950" i="1" dirty="0">
                <a:solidFill>
                  <a:srgbClr val="A8D5D0"/>
                </a:solidFill>
              </a:rPr>
              <a:t> </a:t>
            </a:r>
            <a:r>
              <a:rPr lang="en-US" sz="950" i="1" dirty="0" err="1">
                <a:solidFill>
                  <a:srgbClr val="A8D5D0"/>
                </a:solidFill>
              </a:rPr>
              <a:t>Supervisionsmodell</a:t>
            </a:r>
            <a:r>
              <a:rPr lang="en-US" sz="950" i="1" dirty="0">
                <a:solidFill>
                  <a:srgbClr val="A8D5D0"/>
                </a:solidFill>
              </a:rPr>
              <a:t> (</a:t>
            </a:r>
            <a:r>
              <a:rPr lang="en-US" sz="950" i="1" dirty="0" err="1">
                <a:solidFill>
                  <a:srgbClr val="A8D5D0"/>
                </a:solidFill>
              </a:rPr>
              <a:t>didaktisch</a:t>
            </a:r>
            <a:r>
              <a:rPr lang="en-US" sz="950" i="1" dirty="0">
                <a:solidFill>
                  <a:srgbClr val="A8D5D0"/>
                </a:solidFill>
              </a:rPr>
              <a:t> </a:t>
            </a:r>
            <a:r>
              <a:rPr lang="en-US" sz="950" i="1" dirty="0" err="1">
                <a:solidFill>
                  <a:srgbClr val="A8D5D0"/>
                </a:solidFill>
              </a:rPr>
              <a:t>reduziert</a:t>
            </a:r>
            <a:r>
              <a:rPr lang="en-US" sz="950" i="1" dirty="0">
                <a:solidFill>
                  <a:srgbClr val="A8D5D0"/>
                </a:solidFill>
              </a:rPr>
              <a:t>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242048" y="3035808"/>
            <a:ext cx="1600200" cy="1719072"/>
          </a:xfrm>
          <a:prstGeom prst="roundRect">
            <a:avLst>
              <a:gd name="adj" fmla="val 6250"/>
            </a:avLst>
          </a:prstGeom>
          <a:solidFill>
            <a:srgbClr val="2C7873">
              <a:alpha val="5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4112" y="3090672"/>
            <a:ext cx="566928" cy="566928"/>
          </a:xfrm>
          <a:prstGeom prst="ellipse">
            <a:avLst/>
          </a:prstGeom>
          <a:solidFill>
            <a:srgbClr val="4CABA5">
              <a:alpha val="90000"/>
            </a:srgbClr>
          </a:solidFill>
          <a:ln w="12700">
            <a:solidFill>
              <a:srgbClr val="4CABA5">
                <a:alpha val="9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4112" y="30906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333488" y="3721608"/>
            <a:ext cx="14173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</a:rPr>
              <a:t>Ergebnis-präsentation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33488" y="413308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A8D5D0"/>
                </a:solidFill>
              </a:rPr>
              <a:t>Eine </a:t>
            </a:r>
            <a:r>
              <a:rPr lang="en-US" sz="950" i="1" dirty="0" err="1">
                <a:solidFill>
                  <a:srgbClr val="A8D5D0"/>
                </a:solidFill>
              </a:rPr>
              <a:t>zufällig</a:t>
            </a:r>
            <a:r>
              <a:rPr lang="en-US" sz="950" i="1" dirty="0">
                <a:solidFill>
                  <a:srgbClr val="A8D5D0"/>
                </a:solidFill>
              </a:rPr>
              <a:t> </a:t>
            </a:r>
            <a:r>
              <a:rPr lang="en-US" sz="950" i="1" dirty="0" err="1">
                <a:solidFill>
                  <a:srgbClr val="A8D5D0"/>
                </a:solidFill>
              </a:rPr>
              <a:t>ausgewählte</a:t>
            </a:r>
            <a:r>
              <a:rPr lang="en-US" sz="950" i="1" dirty="0">
                <a:solidFill>
                  <a:srgbClr val="A8D5D0"/>
                </a:solidFill>
              </a:rPr>
              <a:t> Gruppe </a:t>
            </a:r>
            <a:r>
              <a:rPr lang="en-US" sz="950" i="1" dirty="0" err="1">
                <a:solidFill>
                  <a:srgbClr val="A8D5D0"/>
                </a:solidFill>
              </a:rPr>
              <a:t>präsentiert</a:t>
            </a:r>
            <a:r>
              <a:rPr lang="en-US" sz="950" i="1" dirty="0">
                <a:solidFill>
                  <a:srgbClr val="A8D5D0"/>
                </a:solidFill>
              </a:rPr>
              <a:t> </a:t>
            </a:r>
            <a:r>
              <a:rPr lang="en-US" sz="950" i="1" dirty="0" err="1">
                <a:solidFill>
                  <a:srgbClr val="A8D5D0"/>
                </a:solidFill>
              </a:rPr>
              <a:t>ihre</a:t>
            </a:r>
            <a:r>
              <a:rPr lang="en-US" sz="950" i="1" dirty="0">
                <a:solidFill>
                  <a:srgbClr val="A8D5D0"/>
                </a:solidFill>
              </a:rPr>
              <a:t> </a:t>
            </a:r>
            <a:r>
              <a:rPr lang="en-US" sz="950" i="1" dirty="0" err="1">
                <a:solidFill>
                  <a:srgbClr val="A8D5D0"/>
                </a:solidFill>
              </a:rPr>
              <a:t>Ergebnisse</a:t>
            </a:r>
            <a:r>
              <a:rPr lang="en-US" sz="950" i="1" dirty="0">
                <a:solidFill>
                  <a:srgbClr val="A8D5D0"/>
                </a:solidFill>
              </a:rPr>
              <a:t> </a:t>
            </a:r>
            <a:r>
              <a:rPr lang="en-US" sz="950" i="1" dirty="0" err="1">
                <a:solidFill>
                  <a:srgbClr val="A8D5D0"/>
                </a:solidFill>
              </a:rPr>
              <a:t>im</a:t>
            </a:r>
            <a:r>
              <a:rPr lang="en-US" sz="950" i="1" dirty="0">
                <a:solidFill>
                  <a:srgbClr val="A8D5D0"/>
                </a:solidFill>
              </a:rPr>
              <a:t> Plenum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090A0"/>
                </a:solidFill>
              </a:rPr>
              <a:t>Methode: Reduziertes Kieler Supervisionsmodell  •  Dauer: ca. 30 Minuten  •  Gruppen: 4–5 Personen</a:t>
            </a:r>
            <a:endParaRPr lang="en-US" sz="1000" dirty="0"/>
          </a:p>
        </p:txBody>
      </p:sp>
      <p:pic>
        <p:nvPicPr>
          <p:cNvPr id="44" name="Grafik 43">
            <a:extLst>
              <a:ext uri="{FF2B5EF4-FFF2-40B4-BE49-F238E27FC236}">
                <a16:creationId xmlns:a16="http://schemas.microsoft.com/office/drawing/2014/main" id="{A10F1170-4723-47FE-BAC9-DB491D5D6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416" y="1440179"/>
            <a:ext cx="3163824" cy="1503084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2" name="Shape 0"/>
          <p:cNvSpPr/>
          <p:nvPr/>
        </p:nvSpPr>
        <p:spPr>
          <a:xfrm>
            <a:off x="6726480" y="-359887"/>
            <a:ext cx="3097680" cy="2635876"/>
          </a:xfrm>
          <a:prstGeom prst="ellipse">
            <a:avLst/>
          </a:prstGeom>
          <a:solidFill>
            <a:srgbClr val="2C7873">
              <a:alpha val="30000"/>
            </a:srgbClr>
          </a:solidFill>
          <a:ln w="12700">
            <a:solidFill>
              <a:srgbClr val="2C7873">
                <a:alpha val="3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2926080" cy="2926080"/>
          </a:xfrm>
          <a:prstGeom prst="ellipse">
            <a:avLst/>
          </a:prstGeom>
          <a:solidFill>
            <a:srgbClr val="2C7873">
              <a:alpha val="30000"/>
            </a:srgbClr>
          </a:solidFill>
          <a:ln w="12700">
            <a:solidFill>
              <a:srgbClr val="2C787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274320" y="3474720"/>
            <a:ext cx="2286000" cy="2286000"/>
          </a:xfrm>
          <a:prstGeom prst="ellipse">
            <a:avLst/>
          </a:prstGeom>
          <a:solidFill>
            <a:srgbClr val="4CABA5">
              <a:alpha val="25000"/>
            </a:srgbClr>
          </a:solidFill>
          <a:ln w="12700">
            <a:solidFill>
              <a:srgbClr val="4CABA5">
                <a:alpha val="2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090A0"/>
                </a:solidFill>
              </a:rPr>
              <a:t>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68680" y="1645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BA5"/>
                </a:solidFill>
              </a:rPr>
              <a:t>Gruppenarbeit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728838" y="7399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QR-Code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090A0"/>
                </a:solidFill>
              </a:rPr>
              <a:t>Methode: Reduziertes Kieler Supervisionsmodell  •  Dauer: ca. 30 Minuten  •  Gruppen: 4–5 Personen</a:t>
            </a:r>
            <a:endParaRPr lang="en-US" sz="1000" dirty="0"/>
          </a:p>
        </p:txBody>
      </p:sp>
      <p:pic>
        <p:nvPicPr>
          <p:cNvPr id="44" name="Grafik 43">
            <a:extLst>
              <a:ext uri="{FF2B5EF4-FFF2-40B4-BE49-F238E27FC236}">
                <a16:creationId xmlns:a16="http://schemas.microsoft.com/office/drawing/2014/main" id="{9D13A487-FDC3-4BB4-A06E-B19BA4F9D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6916" y="1398348"/>
            <a:ext cx="2838728" cy="2838728"/>
          </a:xfrm>
          <a:prstGeom prst="rect">
            <a:avLst/>
          </a:prstGeom>
          <a:effectLst>
            <a:softEdge rad="177800"/>
          </a:effectLst>
        </p:spPr>
      </p:pic>
      <p:sp>
        <p:nvSpPr>
          <p:cNvPr id="45" name="Shape 0">
            <a:extLst>
              <a:ext uri="{FF2B5EF4-FFF2-40B4-BE49-F238E27FC236}">
                <a16:creationId xmlns:a16="http://schemas.microsoft.com/office/drawing/2014/main" id="{5AF8FFC0-AD2F-4B8F-AF70-BCD65921751C}"/>
              </a:ext>
            </a:extLst>
          </p:cNvPr>
          <p:cNvSpPr/>
          <p:nvPr/>
        </p:nvSpPr>
        <p:spPr>
          <a:xfrm>
            <a:off x="6377438" y="152044"/>
            <a:ext cx="2229601" cy="2419706"/>
          </a:xfrm>
          <a:prstGeom prst="ellipse">
            <a:avLst/>
          </a:prstGeom>
          <a:solidFill>
            <a:srgbClr val="2C7873">
              <a:alpha val="30000"/>
            </a:srgbClr>
          </a:solidFill>
          <a:ln w="12700">
            <a:solidFill>
              <a:srgbClr val="2C7873">
                <a:alpha val="30000"/>
              </a:srgbClr>
            </a:solidFill>
            <a:prstDash val="solid"/>
          </a:ln>
        </p:spPr>
      </p:sp>
      <p:sp>
        <p:nvSpPr>
          <p:cNvPr id="46" name="Shape 0">
            <a:extLst>
              <a:ext uri="{FF2B5EF4-FFF2-40B4-BE49-F238E27FC236}">
                <a16:creationId xmlns:a16="http://schemas.microsoft.com/office/drawing/2014/main" id="{8065708C-A57D-41A2-AF14-1C9ACBD26DF3}"/>
              </a:ext>
            </a:extLst>
          </p:cNvPr>
          <p:cNvSpPr/>
          <p:nvPr/>
        </p:nvSpPr>
        <p:spPr>
          <a:xfrm>
            <a:off x="868680" y="3340772"/>
            <a:ext cx="1491907" cy="1505548"/>
          </a:xfrm>
          <a:prstGeom prst="ellipse">
            <a:avLst/>
          </a:prstGeom>
          <a:solidFill>
            <a:srgbClr val="2C7873">
              <a:alpha val="30000"/>
            </a:srgbClr>
          </a:solidFill>
          <a:ln w="12700">
            <a:solidFill>
              <a:srgbClr val="2C7873">
                <a:alpha val="3000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482693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1115</Words>
  <Application>Microsoft Office PowerPoint</Application>
  <PresentationFormat>Bildschirmpräsentation (16:9)</PresentationFormat>
  <Paragraphs>197</Paragraphs>
  <Slides>11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 in der Schule</dc:title>
  <dc:subject>PptxGenJS Presentation</dc:subject>
  <dc:creator>PptxGenJS</dc:creator>
  <cp:lastModifiedBy>Roza Elmas</cp:lastModifiedBy>
  <cp:revision>5</cp:revision>
  <dcterms:created xsi:type="dcterms:W3CDTF">2026-06-10T03:22:03Z</dcterms:created>
  <dcterms:modified xsi:type="dcterms:W3CDTF">2026-06-10T06:48:17Z</dcterms:modified>
</cp:coreProperties>
</file>