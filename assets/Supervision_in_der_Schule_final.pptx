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860" y="-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9554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89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2C7873">
              <a:alpha val="35000"/>
            </a:srgbClr>
          </a:solidFill>
          <a:ln w="12700">
            <a:solidFill>
              <a:srgbClr val="2C7873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74320"/>
            <a:ext cx="2011680" cy="2011680"/>
          </a:xfrm>
          <a:prstGeom prst="ellipse">
            <a:avLst/>
          </a:prstGeom>
          <a:solidFill>
            <a:srgbClr val="4CABA5">
              <a:alpha val="50000"/>
            </a:srgbClr>
          </a:solidFill>
          <a:ln w="12700">
            <a:solidFill>
              <a:srgbClr val="4CABA5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3931920"/>
            <a:ext cx="1828800" cy="1828800"/>
          </a:xfrm>
          <a:prstGeom prst="ellipse">
            <a:avLst/>
          </a:prstGeom>
          <a:solidFill>
            <a:srgbClr val="2C7873">
              <a:alpha val="30000"/>
            </a:srgbClr>
          </a:solidFill>
          <a:ln w="12700">
            <a:solidFill>
              <a:srgbClr val="2C7873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960120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4CABA5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Seminar · </a:t>
            </a:r>
            <a:r>
              <a:rPr lang="en-US" sz="1100" dirty="0" err="1">
                <a:solidFill>
                  <a:srgbClr val="FFFFFF"/>
                </a:solidFill>
              </a:rPr>
              <a:t>Förderdiagnostische</a:t>
            </a:r>
            <a:r>
              <a:rPr lang="en-US" sz="1100" dirty="0">
                <a:solidFill>
                  <a:srgbClr val="FFFFFF"/>
                </a:solidFill>
              </a:rPr>
              <a:t> </a:t>
            </a:r>
            <a:r>
              <a:rPr lang="en-US" sz="1100" dirty="0" err="1">
                <a:solidFill>
                  <a:srgbClr val="FFFFFF"/>
                </a:solidFill>
              </a:rPr>
              <a:t>Beratung</a:t>
            </a:r>
            <a:r>
              <a:rPr lang="en-US" sz="1100" dirty="0">
                <a:solidFill>
                  <a:srgbClr val="FFFFFF"/>
                </a:solidFill>
              </a:rPr>
              <a:t> </a:t>
            </a:r>
            <a:r>
              <a:rPr lang="en-US" sz="1100" dirty="0" err="1">
                <a:solidFill>
                  <a:srgbClr val="FFFFFF"/>
                </a:solidFill>
              </a:rPr>
              <a:t>im</a:t>
            </a:r>
            <a:r>
              <a:rPr lang="en-US" sz="1100" dirty="0">
                <a:solidFill>
                  <a:srgbClr val="FFFFFF"/>
                </a:solidFill>
              </a:rPr>
              <a:t> FS ESE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4CA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der Schule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Reflexion, Entlastung und Professionalisierung im Lehrer*</a:t>
            </a:r>
            <a:r>
              <a:rPr lang="en-US" sz="1500" i="1" dirty="0" err="1">
                <a:solidFill>
                  <a:srgbClr val="CA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innenberuf</a:t>
            </a:r>
            <a:endParaRPr lang="en-US" sz="1500" i="1" dirty="0">
              <a:solidFill>
                <a:srgbClr val="CADCD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CADCD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CA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</a:t>
            </a:r>
            <a:r>
              <a:rPr lang="en-US" sz="1200" dirty="0" err="1">
                <a:solidFill>
                  <a:srgbClr val="CA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Löffelsender</a:t>
            </a:r>
            <a:r>
              <a:rPr lang="en-US" sz="1200" dirty="0">
                <a:solidFill>
                  <a:srgbClr val="CA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Chiara Noelle, Mark Springer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FC4"/>
                </a:solidFill>
              </a:rPr>
              <a:t>Grundlage: Möller (2012) · Lauffer (2023)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286000"/>
            <a:ext cx="3200400" cy="3200400"/>
          </a:xfrm>
          <a:prstGeom prst="ellipse">
            <a:avLst/>
          </a:prstGeom>
          <a:solidFill>
            <a:srgbClr val="2C7873">
              <a:alpha val="25000"/>
            </a:srgbClr>
          </a:solidFill>
          <a:ln w="12700">
            <a:solidFill>
              <a:srgbClr val="2C7873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4CABA5"/>
                </a:solidFill>
              </a:rPr>
              <a:t>Inhalt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2C7873">
              <a:alpha val="3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27048"/>
            <a:ext cx="475488" cy="475488"/>
          </a:xfrm>
          <a:prstGeom prst="ellipse">
            <a:avLst/>
          </a:prstGeom>
          <a:solidFill>
            <a:srgbClr val="4CABA5">
              <a:alpha val="80000"/>
            </a:srgbClr>
          </a:solidFill>
          <a:ln w="12700">
            <a:solidFill>
              <a:srgbClr val="4CABA5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270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42416" y="147218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Leitfrage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2416" y="17647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D5D0"/>
                </a:solidFill>
              </a:rPr>
              <a:t>Einstieg &amp; Diskussionsimpuls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2C7873">
              <a:alpha val="3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27048"/>
            <a:ext cx="475488" cy="475488"/>
          </a:xfrm>
          <a:prstGeom prst="ellipse">
            <a:avLst/>
          </a:prstGeom>
          <a:solidFill>
            <a:srgbClr val="4CABA5">
              <a:alpha val="80000"/>
            </a:srgbClr>
          </a:solidFill>
          <a:ln w="12700">
            <a:solidFill>
              <a:srgbClr val="4CABA5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270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40096" y="147218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Was ist Supervision?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0096" y="17647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D5D0"/>
                </a:solidFill>
              </a:rPr>
              <a:t>Definition &amp; Kernelemente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267712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2C7873">
              <a:alpha val="3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377440"/>
            <a:ext cx="475488" cy="475488"/>
          </a:xfrm>
          <a:prstGeom prst="ellipse">
            <a:avLst/>
          </a:prstGeom>
          <a:solidFill>
            <a:srgbClr val="4CABA5">
              <a:alpha val="80000"/>
            </a:srgbClr>
          </a:solidFill>
          <a:ln w="12700">
            <a:solidFill>
              <a:srgbClr val="4CABA5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77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42416" y="232257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Ziele von Supervision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2416" y="26151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D5D0"/>
                </a:solidFill>
              </a:rPr>
              <a:t>Wozu dient sie?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267712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2C7873">
              <a:alpha val="3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77440"/>
            <a:ext cx="475488" cy="475488"/>
          </a:xfrm>
          <a:prstGeom prst="ellipse">
            <a:avLst/>
          </a:prstGeom>
          <a:solidFill>
            <a:srgbClr val="4CABA5">
              <a:alpha val="80000"/>
            </a:srgbClr>
          </a:solidFill>
          <a:ln w="12700">
            <a:solidFill>
              <a:srgbClr val="4CABA5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377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0096" y="232257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Supervision an Schulen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0096" y="26151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D5D0"/>
                </a:solidFill>
              </a:rPr>
              <a:t>Warum gerade Schule?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118104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2C7873">
              <a:alpha val="3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27832"/>
            <a:ext cx="475488" cy="475488"/>
          </a:xfrm>
          <a:prstGeom prst="ellipse">
            <a:avLst/>
          </a:prstGeom>
          <a:solidFill>
            <a:srgbClr val="4CABA5">
              <a:alpha val="80000"/>
            </a:srgbClr>
          </a:solidFill>
          <a:ln w="12700">
            <a:solidFill>
              <a:srgbClr val="4CABA5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278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42416" y="317296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Arten von Supervision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42416" y="346557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D5D0"/>
                </a:solidFill>
              </a:rPr>
              <a:t>Einzel-, Gruppen-, Teamsupervision …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118104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2C7873">
              <a:alpha val="3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227832"/>
            <a:ext cx="475488" cy="475488"/>
          </a:xfrm>
          <a:prstGeom prst="ellipse">
            <a:avLst/>
          </a:prstGeom>
          <a:solidFill>
            <a:srgbClr val="4CABA5">
              <a:alpha val="80000"/>
            </a:srgbClr>
          </a:solidFill>
          <a:ln w="12700">
            <a:solidFill>
              <a:srgbClr val="4CABA5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2278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0096" y="317296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Was ist gute Supervision?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0096" y="346557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D5D0"/>
                </a:solidFill>
              </a:rPr>
              <a:t>Qualitätsmerkmale nach Möller (2012)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968496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2C7873">
              <a:alpha val="3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078224"/>
            <a:ext cx="475488" cy="475488"/>
          </a:xfrm>
          <a:prstGeom prst="ellipse">
            <a:avLst/>
          </a:prstGeom>
          <a:solidFill>
            <a:srgbClr val="4CABA5">
              <a:alpha val="80000"/>
            </a:srgbClr>
          </a:solidFill>
          <a:ln w="12700">
            <a:solidFill>
              <a:srgbClr val="4CABA5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0782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42416" y="40233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Empirische Wirksamkeit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42416" y="43159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D5D0"/>
                </a:solidFill>
              </a:rPr>
              <a:t>Studie Lauffer (2023) – Was sagt die Forschung?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3968496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2C7873">
              <a:alpha val="3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4078224"/>
            <a:ext cx="475488" cy="475488"/>
          </a:xfrm>
          <a:prstGeom prst="ellipse">
            <a:avLst/>
          </a:prstGeom>
          <a:solidFill>
            <a:srgbClr val="4CABA5">
              <a:alpha val="80000"/>
            </a:srgbClr>
          </a:solidFill>
          <a:ln w="12700">
            <a:solidFill>
              <a:srgbClr val="4CABA5">
                <a:alpha val="8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40782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40096" y="40233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Gruppenarbeit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40096" y="43159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D5D0"/>
                </a:solidFill>
              </a:rPr>
              <a:t>Kollegiale Fallberatung simulieren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7080"/>
                </a:solidFill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" y="164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7873"/>
                </a:solidFill>
              </a:rPr>
              <a:t>Einstieg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0" y="457200"/>
            <a:ext cx="1920240" cy="1920240"/>
          </a:xfrm>
          <a:prstGeom prst="ellipse">
            <a:avLst/>
          </a:prstGeom>
          <a:solidFill>
            <a:srgbClr val="2C7873">
              <a:alpha val="15000"/>
            </a:srgbClr>
          </a:solidFill>
          <a:ln w="12700">
            <a:solidFill>
              <a:srgbClr val="2C7873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45720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2C7873"/>
                </a:solidFill>
              </a:rPr>
              <a:t>?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6217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</a:t>
            </a:r>
            <a:r>
              <a:rPr lang="en-US" sz="2000" b="1" dirty="0" err="1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</a:t>
            </a:r>
            <a:r>
              <a:rPr lang="en-US" sz="2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Lehrkräfte</a:t>
            </a:r>
            <a:r>
              <a:rPr lang="en-US" sz="2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dabei unterstützen, schwierige schulische Situationen professionell zu reflektieren?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0"/>
          </a:xfrm>
          <a:prstGeom prst="line">
            <a:avLst/>
          </a:prstGeom>
          <a:noFill/>
          <a:ln w="19050">
            <a:solidFill>
              <a:srgbClr val="D5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651760"/>
            <a:ext cx="8412480" cy="2194560"/>
          </a:xfrm>
          <a:prstGeom prst="rect">
            <a:avLst/>
          </a:prstGeom>
          <a:solidFill>
            <a:srgbClr val="E8F0EE"/>
          </a:solidFill>
          <a:ln w="19050">
            <a:solidFill>
              <a:srgbClr val="4CAB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74320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7873"/>
                </a:solidFill>
              </a:rPr>
              <a:t>Impuls zur Diskussion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127248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„Denkt an eine belastende Situation aus Schule </a:t>
            </a:r>
            <a:r>
              <a:rPr lang="en-US" sz="1500" i="1" dirty="0" err="1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oder</a:t>
            </a:r>
            <a:r>
              <a:rPr lang="en-US" sz="1500" i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 </a:t>
            </a:r>
            <a:r>
              <a:rPr lang="en-US" sz="1500" i="1" dirty="0" err="1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Praxissemester</a:t>
            </a:r>
            <a:r>
              <a:rPr lang="en-US" sz="1500" i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Was </a:t>
            </a:r>
            <a:r>
              <a:rPr lang="en-US" sz="1500" i="1" dirty="0" err="1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wäre</a:t>
            </a:r>
            <a:r>
              <a:rPr lang="en-US" sz="1500" i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hilfreicher</a:t>
            </a:r>
            <a:r>
              <a:rPr lang="en-US" sz="1500" i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ein schneller Tipp oder ein strukturierter Reflexionsraum?“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7080"/>
                </a:solidFill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" y="164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7873"/>
                </a:solidFill>
              </a:rPr>
              <a:t>Definition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Supervision?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840480" cy="2743200"/>
          </a:xfrm>
          <a:prstGeom prst="rect">
            <a:avLst/>
          </a:prstGeom>
          <a:solidFill>
            <a:srgbClr val="F4F7F9"/>
          </a:solidFill>
          <a:ln w="12700">
            <a:solidFill>
              <a:srgbClr val="E0E8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3840480" cy="41148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Definition (DGSv)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ist eine </a:t>
            </a:r>
            <a:r>
              <a:rPr lang="en-US" sz="12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berufliche Beratungsform</a:t>
            </a:r>
            <a:r>
              <a:rPr lang="en-US" sz="12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kein Coaching, keine Therapie, kein Ratgespräch.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bearbeitet Fragen, Konflikte und konkrete Situationen aus dem Arbeitsalltag.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Dabei werden berufliche Rolle, Handeln, Organisation und Arbeitsbeziehungen 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 reflektiert.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188720"/>
            <a:ext cx="4389120" cy="2743200"/>
          </a:xfrm>
          <a:prstGeom prst="rect">
            <a:avLst/>
          </a:prstGeom>
          <a:solidFill>
            <a:srgbClr val="E8F0EE"/>
          </a:solidFill>
          <a:ln w="12700">
            <a:solidFill>
              <a:srgbClr val="C5DE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188720"/>
            <a:ext cx="4389120" cy="411480"/>
          </a:xfrm>
          <a:prstGeom prst="rect">
            <a:avLst/>
          </a:prstGeom>
          <a:solidFill>
            <a:srgbClr val="2C7873"/>
          </a:solidFill>
          <a:ln w="12700">
            <a:solidFill>
              <a:srgbClr val="2C78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887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Was Supervision ausmacht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171907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7873"/>
                </a:solidFill>
              </a:rPr>
              <a:t>①  </a:t>
            </a:r>
            <a:r>
              <a:rPr lang="en-US" sz="1250" b="1" dirty="0">
                <a:solidFill>
                  <a:srgbClr val="1A2E5A"/>
                </a:solidFill>
              </a:rPr>
              <a:t>Berufsbegleitend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95681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die gesamte Berufsspanne – nicht nur in Krisen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6280" y="222199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7873"/>
                </a:solidFill>
              </a:rPr>
              <a:t>②  </a:t>
            </a:r>
            <a:r>
              <a:rPr lang="en-US" sz="1250" b="1" dirty="0">
                <a:solidFill>
                  <a:srgbClr val="1A2E5A"/>
                </a:solidFill>
              </a:rPr>
              <a:t>Fallbezogen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45973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Konkrete Situationen statt abstrakter Theoriediskussion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6280" y="272491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7873"/>
                </a:solidFill>
              </a:rPr>
              <a:t>③  </a:t>
            </a:r>
            <a:r>
              <a:rPr lang="en-US" sz="1250" b="1" dirty="0">
                <a:solidFill>
                  <a:srgbClr val="1A2E5A"/>
                </a:solidFill>
              </a:rPr>
              <a:t>Professionell geleitet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96265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Ausgebildete Supervisor*in moderiert den Prozess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322783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7873"/>
                </a:solidFill>
              </a:rPr>
              <a:t>④  </a:t>
            </a:r>
            <a:r>
              <a:rPr lang="en-US" sz="1250" b="1" dirty="0">
                <a:solidFill>
                  <a:srgbClr val="1A2E5A"/>
                </a:solidFill>
              </a:rPr>
              <a:t>Vertraulich &amp; freiwillig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46557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Bericht an Schulleitung, keine Bewertung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041648"/>
            <a:ext cx="8412480" cy="82296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04164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Merksatz: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macht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berufliches Handeln </a:t>
            </a:r>
            <a:r>
              <a:rPr lang="en-US" sz="1400" b="1" dirty="0">
                <a:solidFill>
                  <a:srgbClr val="4CA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verstehbar und veränderbar.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7080"/>
                </a:solidFill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" y="164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7873"/>
                </a:solidFill>
              </a:rPr>
              <a:t>Ziele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 von Supervision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080"/>
                </a:solidFill>
              </a:rPr>
              <a:t>Supervision soll …  (Quelle: DGSv)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624328" cy="1490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8056" y="1581912"/>
            <a:ext cx="475488" cy="475488"/>
          </a:xfrm>
          <a:prstGeom prst="ellipse">
            <a:avLst/>
          </a:prstGeom>
          <a:solidFill>
            <a:srgbClr val="2C7873"/>
          </a:solidFill>
          <a:ln w="12700">
            <a:solidFill>
              <a:srgbClr val="2C78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5819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3272" y="15819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</a:rPr>
              <a:t>Rollenklarheit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" y="2121408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Lehrkräfte klären, was zu ihrer beruflichen Rolle gehört – und was nicht mehr ihre alleinige Verantwortung ist.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36392" y="1417320"/>
            <a:ext cx="2624328" cy="1490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1581912"/>
            <a:ext cx="475488" cy="475488"/>
          </a:xfrm>
          <a:prstGeom prst="ellipse">
            <a:avLst/>
          </a:prstGeom>
          <a:solidFill>
            <a:srgbClr val="2C7873"/>
          </a:solidFill>
          <a:ln w="12700">
            <a:solidFill>
              <a:srgbClr val="2C78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5819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9624" y="15819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</a:rPr>
              <a:t>Kommunikation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64408" y="2121408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 in Gesprächen sichtbar machen: Warum entstehen Missverständnisse mit Eltern oder im Kollegium?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52744" y="1417320"/>
            <a:ext cx="2624328" cy="1490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581912"/>
            <a:ext cx="475488" cy="475488"/>
          </a:xfrm>
          <a:prstGeom prst="ellipse">
            <a:avLst/>
          </a:prstGeom>
          <a:solidFill>
            <a:srgbClr val="2C7873"/>
          </a:solidFill>
          <a:ln w="12700">
            <a:solidFill>
              <a:srgbClr val="2C78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5819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65976" y="15819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</a:rPr>
              <a:t>Konfliktbearbeitung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2121408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Konflikte strukturiert anschauen statt vermeiden – und gemeinsam Wege finden, ohne Schuldige zu suchen.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017520"/>
            <a:ext cx="2624328" cy="1490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8056" y="3182112"/>
            <a:ext cx="475488" cy="475488"/>
          </a:xfrm>
          <a:prstGeom prst="ellipse">
            <a:avLst/>
          </a:prstGeom>
          <a:solidFill>
            <a:srgbClr val="2C7873"/>
          </a:solidFill>
          <a:ln w="12700">
            <a:solidFill>
              <a:srgbClr val="2C78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" y="31821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④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33272" y="31821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</a:rPr>
              <a:t>Wahrnehmung erweitern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8056" y="3721608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blinde Flecken entdecken: Wie sehen andere die Situation? Welche Handlungsmöglichkeiten gibt es?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36392" y="3017520"/>
            <a:ext cx="2624328" cy="1490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64408" y="3182112"/>
            <a:ext cx="475488" cy="475488"/>
          </a:xfrm>
          <a:prstGeom prst="ellipse">
            <a:avLst/>
          </a:prstGeom>
          <a:solidFill>
            <a:srgbClr val="2C7873"/>
          </a:solidFill>
          <a:ln w="12700">
            <a:solidFill>
              <a:srgbClr val="2C78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31821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⑤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49624" y="31821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</a:rPr>
              <a:t>Entlastung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64408" y="3721608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Belastende Erlebnisse ausprechen und </a:t>
            </a:r>
            <a:r>
              <a:rPr lang="en-US" sz="105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einordnen</a:t>
            </a: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Das schützt vor Erschöpfung und Burnout.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52744" y="3017520"/>
            <a:ext cx="2624328" cy="1490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3182112"/>
            <a:ext cx="475488" cy="475488"/>
          </a:xfrm>
          <a:prstGeom prst="ellipse">
            <a:avLst/>
          </a:prstGeom>
          <a:solidFill>
            <a:srgbClr val="2C7873"/>
          </a:solidFill>
          <a:ln w="12700">
            <a:solidFill>
              <a:srgbClr val="2C78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31821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⑥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65976" y="31821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</a:rPr>
              <a:t>Professionalität stärken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80760" y="3721608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einzelnen Fällen lernen und das eigene Handeln nachhaltig weiterentwickeln.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7080"/>
                </a:solidFill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" y="164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7873"/>
                </a:solidFill>
              </a:rPr>
              <a:t>Kontext Schule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an Schulen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3611880"/>
          </a:xfrm>
          <a:prstGeom prst="rect">
            <a:avLst/>
          </a:prstGeom>
          <a:solidFill>
            <a:srgbClr val="F4F7F9"/>
          </a:solidFill>
          <a:ln w="12700">
            <a:solidFill>
              <a:srgbClr val="E0E8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023360" cy="41148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Warum gerade Schule?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Lehrkräfte befinden sich täglich in einem komplexen Beziehungsgeflecht – das kostet Kraft: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258568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E8F0EE"/>
          </a:solidFill>
          <a:ln w="12700">
            <a:solidFill>
              <a:srgbClr val="4CAB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585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7873"/>
                </a:solidFill>
              </a:rPr>
              <a:t>Schüler*innen  </a:t>
            </a:r>
            <a:r>
              <a:rPr lang="en-US" sz="1150" dirty="0">
                <a:solidFill>
                  <a:srgbClr val="5C7080"/>
                </a:solidFill>
              </a:rPr>
              <a:t>Unterrichten, erziehen, fördern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734056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E8F0EE"/>
          </a:solidFill>
          <a:ln w="12700">
            <a:solidFill>
              <a:srgbClr val="4CAB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3405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7873"/>
                </a:solidFill>
              </a:rPr>
              <a:t>Eltern  </a:t>
            </a:r>
            <a:r>
              <a:rPr lang="en-US" sz="1150" dirty="0">
                <a:solidFill>
                  <a:srgbClr val="5C7080"/>
                </a:solidFill>
              </a:rPr>
              <a:t>Kommunizieren, beraten, begrenzen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209544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E8F0EE"/>
          </a:solidFill>
          <a:ln w="12700">
            <a:solidFill>
              <a:srgbClr val="4CAB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0954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7873"/>
                </a:solidFill>
              </a:rPr>
              <a:t>Kollegium  </a:t>
            </a:r>
            <a:r>
              <a:rPr lang="en-US" sz="1150" dirty="0">
                <a:solidFill>
                  <a:srgbClr val="5C7080"/>
                </a:solidFill>
              </a:rPr>
              <a:t>Kooperieren, abstimmen, aushalten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685032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E8F0EE"/>
          </a:solidFill>
          <a:ln w="12700">
            <a:solidFill>
              <a:srgbClr val="4CAB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8503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7873"/>
                </a:solidFill>
              </a:rPr>
              <a:t>Schulleitung  </a:t>
            </a:r>
            <a:r>
              <a:rPr lang="en-US" sz="1150" dirty="0">
                <a:solidFill>
                  <a:srgbClr val="5C7080"/>
                </a:solidFill>
              </a:rPr>
              <a:t>Berichten, erfüllen, vertreten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160520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E8F0EE"/>
          </a:solidFill>
          <a:ln w="12700">
            <a:solidFill>
              <a:srgbClr val="4CAB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605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7873"/>
                </a:solidFill>
              </a:rPr>
              <a:t>Institutionelle Vorgaben  </a:t>
            </a:r>
            <a:r>
              <a:rPr lang="en-US" sz="1150" dirty="0">
                <a:solidFill>
                  <a:srgbClr val="5C7080"/>
                </a:solidFill>
              </a:rPr>
              <a:t>Lehrpläne, Inklusion, Protokolle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1188720"/>
            <a:ext cx="4206240" cy="3611880"/>
          </a:xfrm>
          <a:prstGeom prst="rect">
            <a:avLst/>
          </a:prstGeom>
          <a:solidFill>
            <a:srgbClr val="E8F0EE"/>
          </a:solidFill>
          <a:ln w="12700">
            <a:solidFill>
              <a:srgbClr val="C5DE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1188720"/>
            <a:ext cx="4206240" cy="411480"/>
          </a:xfrm>
          <a:prstGeom prst="rect">
            <a:avLst/>
          </a:prstGeom>
          <a:solidFill>
            <a:srgbClr val="2C7873"/>
          </a:solidFill>
          <a:ln w="12700">
            <a:solidFill>
              <a:srgbClr val="2C78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188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 läuft schulische Supervision ab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1719072"/>
            <a:ext cx="3886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Fokus: </a:t>
            </a:r>
            <a:r>
              <a:rPr lang="en-US" sz="12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 der Lehrkräfte mit Schüler*innen – keine Therapie, keine Beurteilung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2331720"/>
            <a:ext cx="3886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Gruppe: </a:t>
            </a:r>
            <a:r>
              <a:rPr lang="en-US" sz="12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Lehrkräfte, aus einer oder verschiedenen Schulen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2944368"/>
            <a:ext cx="3886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Rhythmus: </a:t>
            </a:r>
            <a:r>
              <a:rPr lang="en-US" sz="12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Sitzungen alle ca. zwei Monate, freiwillig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3557016"/>
            <a:ext cx="3886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Leitung: </a:t>
            </a:r>
            <a:r>
              <a:rPr lang="en-US" sz="12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Schulpsycholog*in mit Supervisionsausbildung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4169664"/>
            <a:ext cx="3886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Rahmen: </a:t>
            </a:r>
            <a:r>
              <a:rPr lang="en-US" sz="12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Vertraulich und kostenfrei (Bayern)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7080"/>
                </a:solidFill>
              </a:rPr>
              <a:t>Quelle: Lauffer (2023), Bayerisches Staatsministerium für Unterricht und Kultus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90A0"/>
                </a:solidFill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" y="164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BA5"/>
                </a:solidFill>
              </a:rPr>
              <a:t>Settings &amp; Formen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Arten von Supervision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ABFC4"/>
                </a:solidFill>
              </a:rPr>
              <a:t>Je nach Anliegen wählt man ein anderes Setting – die fünf wichtigsten im Überblick: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6032" y="1417320"/>
            <a:ext cx="1645920" cy="3520440"/>
          </a:xfrm>
          <a:prstGeom prst="rect">
            <a:avLst/>
          </a:prstGeom>
          <a:solidFill>
            <a:srgbClr val="2C7873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508760"/>
            <a:ext cx="585216" cy="585216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5087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1:1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" y="2176272"/>
            <a:ext cx="1499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Einzel-S.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9184" y="2651760"/>
            <a:ext cx="149961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Person reflektiert allein mit der Supervisor*in – z.B. Rollenprobleme, persönliche Krisen, schwierige Entscheidungen.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" y="3968496"/>
            <a:ext cx="14996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ECEC9"/>
                </a:solidFill>
              </a:rPr>
              <a:t>z.B. Lehrkraft bespricht anhaltende Belastung durch eine Klasse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02536" y="1417320"/>
            <a:ext cx="1645920" cy="3520440"/>
          </a:xfrm>
          <a:prstGeom prst="rect">
            <a:avLst/>
          </a:prstGeom>
          <a:solidFill>
            <a:srgbClr val="338B85">
              <a:alpha val="92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32888" y="1508760"/>
            <a:ext cx="585216" cy="585216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32888" y="15087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75688" y="2176272"/>
            <a:ext cx="1499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Gruppen-S.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075688" y="2651760"/>
            <a:ext cx="149961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Personen aus ähnlichen Rollen, aber verschiedenen Institutionen – kollegialer Austausch ohne Hierarchie.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75688" y="3968496"/>
            <a:ext cx="14996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ECEC9"/>
                </a:solidFill>
              </a:rPr>
              <a:t>z.B. Lehrkräfte verschiedener Schulen treffen sich regelmäßig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49040" y="1417320"/>
            <a:ext cx="1645920" cy="3520440"/>
          </a:xfrm>
          <a:prstGeom prst="rect">
            <a:avLst/>
          </a:prstGeom>
          <a:solidFill>
            <a:srgbClr val="3A9E97">
              <a:alpha val="8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79392" y="1508760"/>
            <a:ext cx="585216" cy="585216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79392" y="15087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22192" y="2176272"/>
            <a:ext cx="1499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Team-S.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822192" y="2651760"/>
            <a:ext cx="149961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bestehendes Team arbeitet an gemeinsamen Fällen – Strukturen und Zusammenarbeit stehen im Fokus.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22192" y="3968496"/>
            <a:ext cx="14996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ECEC9"/>
                </a:solidFill>
              </a:rPr>
              <a:t>z.B. Jahrgangsteam, Klassenteam, Förderschulteam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95544" y="1417320"/>
            <a:ext cx="1645920" cy="3520440"/>
          </a:xfrm>
          <a:prstGeom prst="rect">
            <a:avLst/>
          </a:prstGeom>
          <a:solidFill>
            <a:srgbClr val="41B2AA">
              <a:alpha val="7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25896" y="1508760"/>
            <a:ext cx="585216" cy="585216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25896" y="15087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68696" y="2176272"/>
            <a:ext cx="1499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Organisations-S.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568696" y="2651760"/>
            <a:ext cx="149961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Blick auf die Schule als System: Leitung, Konfliktlinien, strukturelle Probleme – nicht nur Einzelfälle.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68696" y="3968496"/>
            <a:ext cx="14996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ECEC9"/>
                </a:solidFill>
              </a:rPr>
              <a:t>z.B. Spannungen zwischen Kollegium und Schulleitung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242048" y="1417320"/>
            <a:ext cx="1645920" cy="3520440"/>
          </a:xfrm>
          <a:prstGeom prst="rect">
            <a:avLst/>
          </a:prstGeom>
          <a:solidFill>
            <a:srgbClr val="48C5BC">
              <a:alpha val="6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0" y="1508760"/>
            <a:ext cx="585216" cy="585216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15087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15200" y="2176272"/>
            <a:ext cx="1499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Konzept-S.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315200" y="2651760"/>
            <a:ext cx="149961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bestehendes Konzept wird kritisch geprüft und weiterentwickelt – praxisnah und teamübergreifend.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0" y="3968496"/>
            <a:ext cx="14996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ECEC9"/>
                </a:solidFill>
              </a:rPr>
              <a:t>z.B. Förderkonzept oder Umgang mit herausforderndem Verhalten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7080"/>
                </a:solidFill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" y="164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7873"/>
                </a:solidFill>
              </a:rPr>
              <a:t>Qualität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gute Supervision?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080"/>
                </a:solidFill>
              </a:rPr>
              <a:t>Qualitätsmerkmale nach Möller (2012) – nicht jede Beratung ist automatisch gute Supervision: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624328" cy="1517904"/>
          </a:xfrm>
          <a:prstGeom prst="rect">
            <a:avLst/>
          </a:prstGeom>
          <a:solidFill>
            <a:srgbClr val="F4F7F9"/>
          </a:solidFill>
          <a:ln w="12700">
            <a:solidFill>
              <a:srgbClr val="D5E5E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27048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ABA5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0392" y="152704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5A"/>
                </a:solidFill>
              </a:rPr>
              <a:t>Aufgabenorientiert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1947672"/>
            <a:ext cx="23774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Fokus bleibt auf dem beruflichen Handeln – keine ausufernden Privatgespräche, kein reines Dampfablassen.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36392" y="1417320"/>
            <a:ext cx="2624328" cy="1517904"/>
          </a:xfrm>
          <a:prstGeom prst="rect">
            <a:avLst/>
          </a:prstGeom>
          <a:solidFill>
            <a:srgbClr val="F4F7F9"/>
          </a:solidFill>
          <a:ln w="12700">
            <a:solidFill>
              <a:srgbClr val="D5E5E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73552" y="1527048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ABA5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66744" y="152704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5A"/>
                </a:solidFill>
              </a:rPr>
              <a:t>Mehrperspektivisch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73552" y="1947672"/>
            <a:ext cx="23774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Verschiedene Sichtweisen werden aktiv eingeholt: Wie sehen andere Beteiligte die Situation?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52744" y="1417320"/>
            <a:ext cx="2624328" cy="1517904"/>
          </a:xfrm>
          <a:prstGeom prst="rect">
            <a:avLst/>
          </a:prstGeom>
          <a:solidFill>
            <a:srgbClr val="F4F7F9"/>
          </a:solidFill>
          <a:ln w="12700">
            <a:solidFill>
              <a:srgbClr val="D5E5E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9904" y="1527048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ABA5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83096" y="152704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5A"/>
                </a:solidFill>
              </a:rPr>
              <a:t>Ressourcenorientiert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89904" y="1947672"/>
            <a:ext cx="23774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funktioniert bereits? Stärken und Kompetenzen der Supervisand*innen sind der Ausgangspunkt.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035808"/>
            <a:ext cx="2624328" cy="1517904"/>
          </a:xfrm>
          <a:prstGeom prst="rect">
            <a:avLst/>
          </a:prstGeom>
          <a:solidFill>
            <a:srgbClr val="F4F7F9"/>
          </a:solidFill>
          <a:ln w="12700">
            <a:solidFill>
              <a:srgbClr val="D5E5E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145536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ABA5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0392" y="314553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5A"/>
                </a:solidFill>
              </a:rPr>
              <a:t>Fachlich fundiert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3566160"/>
            <a:ext cx="23774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Supervisor*in bringt Feldkompetenz (Schule) und theoretisches Wissen mit – nicht nur Gesprächsmoderation.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36392" y="3035808"/>
            <a:ext cx="2624328" cy="1517904"/>
          </a:xfrm>
          <a:prstGeom prst="rect">
            <a:avLst/>
          </a:prstGeom>
          <a:solidFill>
            <a:srgbClr val="F4F7F9"/>
          </a:solidFill>
          <a:ln w="12700">
            <a:solidFill>
              <a:srgbClr val="D5E5E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73552" y="3145536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ABA5"/>
                </a:solidFill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666744" y="314553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5A"/>
                </a:solidFill>
              </a:rPr>
              <a:t>Allparteilich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273552" y="3566160"/>
            <a:ext cx="23774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vorschnellen Urteile, kein Schuldigen-Suchen – alle Perspektiven (auch die von Schüler*innen) werden ernst genommen.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52744" y="3035808"/>
            <a:ext cx="2624328" cy="1517904"/>
          </a:xfrm>
          <a:prstGeom prst="rect">
            <a:avLst/>
          </a:prstGeom>
          <a:solidFill>
            <a:srgbClr val="F4F7F9"/>
          </a:solidFill>
          <a:ln w="12700">
            <a:solidFill>
              <a:srgbClr val="D5E5E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89904" y="3145536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ABA5"/>
                </a:solidFill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83096" y="314553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5A"/>
                </a:solidFill>
              </a:rPr>
              <a:t>Klar gerahmt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089904" y="3566160"/>
            <a:ext cx="23774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Ziel, Rolle, Setting und Schweigepflicht sind zu Beginn transparent vereinbart – damit Vertrauen entstehen kann.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7080"/>
                </a:solidFill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" y="164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7873"/>
                </a:solidFill>
              </a:rPr>
              <a:t>Empirie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Empirische Wirksamkeit von Supervision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080"/>
                </a:solidFill>
              </a:rPr>
              <a:t>Lauffer (2023): Supervision, kollegiale Fallberatung und Coaching für Lehrkräfte in Bayern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12748"/>
            <a:ext cx="3931920" cy="2865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3931920" cy="41148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Studiendesign – einfach erklärt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92024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Quasi-experimentell:  </a:t>
            </a:r>
            <a:r>
              <a:rPr lang="en-US" sz="1100" dirty="0" err="1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Teilnehmer</a:t>
            </a:r>
            <a:r>
              <a:rPr lang="en-US" sz="11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*innen entschieden selbst, ob sie mitmachen.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5780" y="2363724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Prä-Post-Design:  </a:t>
            </a:r>
            <a:r>
              <a:rPr lang="en-US" sz="11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Messung vor Beginn der Maßnahme und danach – so lässt sich eine Veränderung sichtbar machen.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884799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Interventions-/Kontrollgruppe:  </a:t>
            </a:r>
            <a:r>
              <a:rPr lang="en-US" sz="11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eine Gruppe erhielt Supervision, die andere nicht – Vergleich zeigt den Unterschied.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5780" y="3545937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AVEM-Fragebogen:  </a:t>
            </a:r>
            <a:r>
              <a:rPr lang="en-US" sz="11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Standardisiertes Instrument zur beruflichen Belastung: misst Muster wie gesundes Engagement, Risikomuster A (Überengagement) oder B (Resignation).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1417320"/>
            <a:ext cx="4297680" cy="28610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417320"/>
            <a:ext cx="4297680" cy="411480"/>
          </a:xfrm>
          <a:prstGeom prst="rect">
            <a:avLst/>
          </a:prstGeom>
          <a:solidFill>
            <a:srgbClr val="2C7873"/>
          </a:solidFill>
          <a:ln w="12700">
            <a:solidFill>
              <a:srgbClr val="2C78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4173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Zentrale Ergebnisse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1920240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E8F0EE"/>
          </a:solidFill>
          <a:ln w="12700">
            <a:solidFill>
              <a:srgbClr val="4CAB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92024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1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Lehrkräfte mit Supervision waren danach </a:t>
            </a:r>
            <a:r>
              <a:rPr lang="en-US" sz="1100" b="1" dirty="0">
                <a:solidFill>
                  <a:srgbClr val="2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berufsbezogen gesünder</a:t>
            </a:r>
            <a:r>
              <a:rPr lang="en-US" sz="11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als die Kontrollgruppe.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17720" y="2514600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E8F0EE"/>
          </a:solidFill>
          <a:ln w="12700">
            <a:solidFill>
              <a:srgbClr val="4CAB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5317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</a:t>
            </a:r>
            <a:r>
              <a:rPr lang="en-US" sz="11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Gesundheitsförderliche Muster </a:t>
            </a:r>
            <a:r>
              <a:rPr lang="en-US" sz="1100" b="1" dirty="0" err="1">
                <a:solidFill>
                  <a:srgbClr val="2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nahmen</a:t>
            </a:r>
            <a:r>
              <a:rPr lang="en-US" sz="1100" b="1" dirty="0">
                <a:solidFill>
                  <a:srgbClr val="2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zu</a:t>
            </a:r>
            <a:r>
              <a:rPr lang="en-US" sz="11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in der Kontrollgruppe nahmen sie ab.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17720" y="3099816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E8F0EE"/>
          </a:solidFill>
          <a:ln w="12700">
            <a:solidFill>
              <a:srgbClr val="4CAB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102152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</a:t>
            </a:r>
            <a:r>
              <a:rPr lang="en-US" sz="1100" dirty="0" err="1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Risikomuster</a:t>
            </a:r>
            <a:r>
              <a:rPr lang="en-US" sz="11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2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gingen</a:t>
            </a:r>
            <a:r>
              <a:rPr lang="en-US" sz="1100" b="1" dirty="0">
                <a:solidFill>
                  <a:srgbClr val="2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zurück</a:t>
            </a:r>
            <a:r>
              <a:rPr lang="en-US" sz="11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17720" y="3685032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E8F0EE"/>
          </a:solidFill>
          <a:ln w="12700">
            <a:solidFill>
              <a:srgbClr val="4CAB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691506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</a:t>
            </a:r>
            <a:r>
              <a:rPr lang="en-US" sz="11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Subjektiv berichteten Lehrkräfte von </a:t>
            </a:r>
            <a:r>
              <a:rPr lang="en-US" sz="1100" b="1" dirty="0">
                <a:solidFill>
                  <a:srgbClr val="2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Handlungsoptionen und weniger Hilflosigkeit</a:t>
            </a:r>
            <a:r>
              <a:rPr lang="en-US" sz="11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71099" y="4318572"/>
            <a:ext cx="8412480" cy="626063"/>
          </a:xfrm>
          <a:prstGeom prst="rect">
            <a:avLst/>
          </a:prstGeom>
          <a:solidFill>
            <a:srgbClr val="FFF8E8"/>
          </a:solidFill>
          <a:ln w="12700">
            <a:solidFill>
              <a:srgbClr val="E8D5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7712" y="4251927"/>
            <a:ext cx="8046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7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Einschränkung: </a:t>
            </a:r>
            <a:r>
              <a:rPr lang="en-US" sz="1200" dirty="0">
                <a:solidFill>
                  <a:srgbClr val="6B5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Randomisierung, nur </a:t>
            </a:r>
            <a:r>
              <a:rPr lang="en-US" sz="1200" dirty="0" err="1">
                <a:solidFill>
                  <a:srgbClr val="6B5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</a:t>
            </a:r>
            <a:r>
              <a:rPr lang="en-US" sz="1200" dirty="0">
                <a:solidFill>
                  <a:srgbClr val="6B5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5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Messzeitpunkte</a:t>
            </a:r>
            <a:r>
              <a:rPr lang="en-US" sz="1200" dirty="0">
                <a:solidFill>
                  <a:srgbClr val="6B5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Daher keine Kausalität, aber wertvolle erste Hinweise auf Wirksamkeit.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594360" y="3744469"/>
            <a:ext cx="2286000" cy="2286000"/>
          </a:xfrm>
          <a:prstGeom prst="ellipse">
            <a:avLst/>
          </a:prstGeom>
          <a:solidFill>
            <a:srgbClr val="4CABA5">
              <a:alpha val="25000"/>
            </a:srgbClr>
          </a:solidFill>
          <a:ln w="12700">
            <a:solidFill>
              <a:srgbClr val="4CABA5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90A0"/>
                </a:solidFill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BA5"/>
                </a:solidFill>
              </a:rPr>
              <a:t>Gruppenarbeit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Kollegiale Fallberatung simulieren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CABA5"/>
                </a:solidFill>
              </a:rPr>
              <a:t>Szenario: Teamteaching an einer Förderschule mit Schwerpunkt ESE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5120640" cy="1444752"/>
          </a:xfrm>
          <a:prstGeom prst="rect">
            <a:avLst/>
          </a:prstGeom>
          <a:solidFill>
            <a:srgbClr val="2C7873">
              <a:alpha val="2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54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BA5"/>
                </a:solidFill>
              </a:rPr>
              <a:t>Fallkontext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Lehrkräfte unterrichten gemeinsam eine Klasse mit Schüler*innen mit dem Förderschwerpunkt Emotionale und soziale Entwicklung (ESE). Im Team entstehen Spannungen darüber, wer in bestimmten Situationen eingreift – und wer sich herausnehmen </a:t>
            </a:r>
            <a:r>
              <a:rPr lang="en-US" sz="1150" dirty="0" err="1">
                <a:solidFill>
                  <a:srgbClr val="D0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darf</a:t>
            </a:r>
            <a:r>
              <a:rPr lang="en-US" sz="1150" dirty="0">
                <a:solidFill>
                  <a:srgbClr val="D0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50" dirty="0" err="1">
                <a:solidFill>
                  <a:srgbClr val="D0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Dadurch</a:t>
            </a:r>
            <a:r>
              <a:rPr lang="en-US" sz="1150" dirty="0">
                <a:solidFill>
                  <a:srgbClr val="D0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D0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entsteht</a:t>
            </a:r>
            <a:r>
              <a:rPr lang="en-US" sz="1150" dirty="0">
                <a:solidFill>
                  <a:srgbClr val="D0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D0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</a:t>
            </a:r>
            <a:r>
              <a:rPr lang="en-US" sz="1150" dirty="0">
                <a:solidFill>
                  <a:srgbClr val="D0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D0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instabile</a:t>
            </a:r>
            <a:r>
              <a:rPr lang="en-US" sz="1150" dirty="0">
                <a:solidFill>
                  <a:srgbClr val="D0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D0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Lernumgebung</a:t>
            </a:r>
            <a:r>
              <a:rPr lang="en-US" sz="1150" dirty="0">
                <a:solidFill>
                  <a:srgbClr val="D0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D0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</a:t>
            </a:r>
            <a:r>
              <a:rPr lang="en-US" sz="1150" dirty="0">
                <a:solidFill>
                  <a:srgbClr val="D0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die </a:t>
            </a:r>
            <a:r>
              <a:rPr lang="en-US" sz="1150" dirty="0" err="1">
                <a:solidFill>
                  <a:srgbClr val="D0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Schüler</a:t>
            </a:r>
            <a:r>
              <a:rPr lang="en-US" sz="1150" dirty="0">
                <a:solidFill>
                  <a:srgbClr val="D0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en-US" sz="1150" dirty="0" err="1">
                <a:solidFill>
                  <a:srgbClr val="D0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innen</a:t>
            </a:r>
            <a:r>
              <a:rPr lang="en-US" sz="1150" dirty="0">
                <a:solidFill>
                  <a:srgbClr val="D0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035807"/>
            <a:ext cx="1600200" cy="1719069"/>
          </a:xfrm>
          <a:prstGeom prst="roundRect">
            <a:avLst>
              <a:gd name="adj" fmla="val 6250"/>
            </a:avLst>
          </a:prstGeom>
          <a:solidFill>
            <a:srgbClr val="2C7873">
              <a:alpha val="5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3090672"/>
            <a:ext cx="566928" cy="566928"/>
          </a:xfrm>
          <a:prstGeom prst="ellipse">
            <a:avLst/>
          </a:prstGeom>
          <a:solidFill>
            <a:srgbClr val="4CABA5">
              <a:alpha val="90000"/>
            </a:srgbClr>
          </a:solidFill>
          <a:ln w="12700">
            <a:solidFill>
              <a:srgbClr val="4CABA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090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777577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</a:rPr>
              <a:t>Gruppenaufteilung</a:t>
            </a:r>
            <a:r>
              <a:rPr lang="en-US" sz="1100" b="1" dirty="0">
                <a:solidFill>
                  <a:srgbClr val="FFFFFF"/>
                </a:solidFill>
              </a:rPr>
              <a:t> </a:t>
            </a:r>
            <a:r>
              <a:rPr lang="en-US" sz="1100" b="1" dirty="0" err="1">
                <a:solidFill>
                  <a:srgbClr val="FFFFFF"/>
                </a:solidFill>
              </a:rPr>
              <a:t>im</a:t>
            </a:r>
            <a:r>
              <a:rPr lang="en-US" sz="1100" b="1" dirty="0">
                <a:solidFill>
                  <a:srgbClr val="FFFFFF"/>
                </a:solidFill>
              </a:rPr>
              <a:t> Plenum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08736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 err="1">
                <a:solidFill>
                  <a:srgbClr val="A8D5D0"/>
                </a:solidFill>
              </a:rPr>
              <a:t>Im</a:t>
            </a:r>
            <a:r>
              <a:rPr lang="en-US" sz="950" i="1" dirty="0">
                <a:solidFill>
                  <a:srgbClr val="A8D5D0"/>
                </a:solidFill>
              </a:rPr>
              <a:t> Plenum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98548" y="3035808"/>
            <a:ext cx="1600200" cy="1719070"/>
          </a:xfrm>
          <a:prstGeom prst="roundRect">
            <a:avLst>
              <a:gd name="adj" fmla="val 6250"/>
            </a:avLst>
          </a:prstGeom>
          <a:solidFill>
            <a:srgbClr val="2C7873">
              <a:alpha val="5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96896" y="3090672"/>
            <a:ext cx="566928" cy="566928"/>
          </a:xfrm>
          <a:prstGeom prst="ellipse">
            <a:avLst/>
          </a:prstGeom>
          <a:solidFill>
            <a:srgbClr val="4CABA5">
              <a:alpha val="90000"/>
            </a:srgbClr>
          </a:solidFill>
          <a:ln w="12700">
            <a:solidFill>
              <a:srgbClr val="4CABA5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96896" y="3090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76272" y="383133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</a:rPr>
              <a:t>Gruppenmitglied</a:t>
            </a:r>
            <a:r>
              <a:rPr lang="en-US" sz="1100" b="1" dirty="0">
                <a:solidFill>
                  <a:srgbClr val="FFFFFF"/>
                </a:solidFill>
              </a:rPr>
              <a:t> </a:t>
            </a:r>
            <a:r>
              <a:rPr lang="en-US" sz="1100" b="1" dirty="0" err="1">
                <a:solidFill>
                  <a:srgbClr val="FFFFFF"/>
                </a:solidFill>
              </a:rPr>
              <a:t>mit</a:t>
            </a:r>
            <a:r>
              <a:rPr lang="en-US" sz="1100" b="1" dirty="0">
                <a:solidFill>
                  <a:srgbClr val="FFFFFF"/>
                </a:solidFill>
              </a:rPr>
              <a:t> Laptop </a:t>
            </a:r>
            <a:r>
              <a:rPr lang="en-US" sz="1100" b="1" dirty="0" err="1">
                <a:solidFill>
                  <a:srgbClr val="FFFFFF"/>
                </a:solidFill>
              </a:rPr>
              <a:t>öffnet</a:t>
            </a:r>
            <a:r>
              <a:rPr lang="en-US" sz="1100" b="1" dirty="0">
                <a:solidFill>
                  <a:srgbClr val="FFFFFF"/>
                </a:solidFill>
              </a:rPr>
              <a:t> den Link in Moodle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89988" y="4238243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 err="1">
                <a:solidFill>
                  <a:srgbClr val="A8D5D0"/>
                </a:solidFill>
              </a:rPr>
              <a:t>Anweisungen</a:t>
            </a:r>
            <a:r>
              <a:rPr lang="en-US" sz="950" i="1" dirty="0">
                <a:solidFill>
                  <a:srgbClr val="A8D5D0"/>
                </a:solidFill>
              </a:rPr>
              <a:t> </a:t>
            </a:r>
            <a:r>
              <a:rPr lang="en-US" sz="950" i="1" dirty="0" err="1">
                <a:solidFill>
                  <a:srgbClr val="A8D5D0"/>
                </a:solidFill>
              </a:rPr>
              <a:t>folgen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03904" y="3035808"/>
            <a:ext cx="1600200" cy="1719072"/>
          </a:xfrm>
          <a:prstGeom prst="roundRect">
            <a:avLst>
              <a:gd name="adj" fmla="val 6250"/>
            </a:avLst>
          </a:prstGeom>
          <a:solidFill>
            <a:srgbClr val="2C7873">
              <a:alpha val="5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15968" y="3090672"/>
            <a:ext cx="566928" cy="566928"/>
          </a:xfrm>
          <a:prstGeom prst="ellipse">
            <a:avLst/>
          </a:prstGeom>
          <a:solidFill>
            <a:srgbClr val="4CABA5">
              <a:alpha val="90000"/>
            </a:srgbClr>
          </a:solidFill>
          <a:ln w="12700">
            <a:solidFill>
              <a:srgbClr val="4CABA5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3090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95344" y="37216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</a:rPr>
              <a:t>Selbstständige</a:t>
            </a:r>
            <a:r>
              <a:rPr lang="en-US" sz="1100" b="1" dirty="0">
                <a:solidFill>
                  <a:srgbClr val="FFFFFF"/>
                </a:solidFill>
              </a:rPr>
              <a:t> </a:t>
            </a:r>
            <a:r>
              <a:rPr lang="en-US" sz="1100" b="1" dirty="0" err="1">
                <a:solidFill>
                  <a:srgbClr val="FFFFFF"/>
                </a:solidFill>
              </a:rPr>
              <a:t>Rolleneinteilung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95344" y="41788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 err="1">
                <a:solidFill>
                  <a:srgbClr val="A8D5D0"/>
                </a:solidFill>
              </a:rPr>
              <a:t>Benutzung</a:t>
            </a:r>
            <a:r>
              <a:rPr lang="en-US" sz="950" i="1" dirty="0">
                <a:solidFill>
                  <a:srgbClr val="A8D5D0"/>
                </a:solidFill>
              </a:rPr>
              <a:t> des Online-Tools </a:t>
            </a:r>
            <a:r>
              <a:rPr lang="en-US" sz="950" i="1" dirty="0" err="1">
                <a:solidFill>
                  <a:srgbClr val="A8D5D0"/>
                </a:solidFill>
              </a:rPr>
              <a:t>unter</a:t>
            </a:r>
            <a:r>
              <a:rPr lang="en-US" sz="950" i="1" dirty="0">
                <a:solidFill>
                  <a:srgbClr val="A8D5D0"/>
                </a:solidFill>
              </a:rPr>
              <a:t> </a:t>
            </a:r>
            <a:r>
              <a:rPr lang="en-US" sz="950" i="1" dirty="0" err="1">
                <a:solidFill>
                  <a:srgbClr val="A8D5D0"/>
                </a:solidFill>
              </a:rPr>
              <a:t>Angabe</a:t>
            </a:r>
            <a:r>
              <a:rPr lang="en-US" sz="950" i="1" dirty="0">
                <a:solidFill>
                  <a:srgbClr val="A8D5D0"/>
                </a:solidFill>
              </a:rPr>
              <a:t> der </a:t>
            </a:r>
            <a:r>
              <a:rPr lang="en-US" sz="950" i="1" dirty="0" err="1">
                <a:solidFill>
                  <a:srgbClr val="A8D5D0"/>
                </a:solidFill>
              </a:rPr>
              <a:t>Geräteverfügbarkeit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22976" y="3035807"/>
            <a:ext cx="1600200" cy="1719071"/>
          </a:xfrm>
          <a:prstGeom prst="roundRect">
            <a:avLst>
              <a:gd name="adj" fmla="val 6250"/>
            </a:avLst>
          </a:prstGeom>
          <a:solidFill>
            <a:srgbClr val="2C7873">
              <a:alpha val="5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3090672"/>
            <a:ext cx="566928" cy="566928"/>
          </a:xfrm>
          <a:prstGeom prst="ellipse">
            <a:avLst/>
          </a:prstGeom>
          <a:solidFill>
            <a:srgbClr val="4CABA5">
              <a:alpha val="90000"/>
            </a:srgbClr>
          </a:solidFill>
          <a:ln w="12700">
            <a:solidFill>
              <a:srgbClr val="4CABA5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3090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14416" y="37216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</a:rPr>
              <a:t>Durchführung</a:t>
            </a:r>
            <a:r>
              <a:rPr lang="en-US" sz="1100" b="1" dirty="0">
                <a:solidFill>
                  <a:srgbClr val="FFFFFF"/>
                </a:solidFill>
              </a:rPr>
              <a:t> der Simulation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17254" y="418566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8D5D0"/>
                </a:solidFill>
              </a:rPr>
              <a:t>Ink. </a:t>
            </a:r>
            <a:r>
              <a:rPr lang="en-US" sz="950" i="1" dirty="0" err="1">
                <a:solidFill>
                  <a:srgbClr val="A8D5D0"/>
                </a:solidFill>
              </a:rPr>
              <a:t>Gestaltung</a:t>
            </a:r>
            <a:r>
              <a:rPr lang="en-US" sz="950" i="1" dirty="0">
                <a:solidFill>
                  <a:srgbClr val="A8D5D0"/>
                </a:solidFill>
              </a:rPr>
              <a:t> </a:t>
            </a:r>
            <a:r>
              <a:rPr lang="en-US" sz="950" i="1" dirty="0" err="1">
                <a:solidFill>
                  <a:srgbClr val="A8D5D0"/>
                </a:solidFill>
              </a:rPr>
              <a:t>einer</a:t>
            </a:r>
            <a:r>
              <a:rPr lang="en-US" sz="950" i="1" dirty="0">
                <a:solidFill>
                  <a:srgbClr val="A8D5D0"/>
                </a:solidFill>
              </a:rPr>
              <a:t> </a:t>
            </a:r>
            <a:r>
              <a:rPr lang="en-US" sz="950" i="1" dirty="0" err="1">
                <a:solidFill>
                  <a:srgbClr val="A8D5D0"/>
                </a:solidFill>
              </a:rPr>
              <a:t>Präsentation</a:t>
            </a:r>
            <a:r>
              <a:rPr lang="en-US" sz="950" i="1" dirty="0">
                <a:solidFill>
                  <a:srgbClr val="A8D5D0"/>
                </a:solidFill>
              </a:rPr>
              <a:t> und Feedback)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242048" y="3035808"/>
            <a:ext cx="1600200" cy="1719072"/>
          </a:xfrm>
          <a:prstGeom prst="roundRect">
            <a:avLst>
              <a:gd name="adj" fmla="val 6250"/>
            </a:avLst>
          </a:prstGeom>
          <a:solidFill>
            <a:srgbClr val="2C7873">
              <a:alpha val="5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54112" y="3090672"/>
            <a:ext cx="566928" cy="566928"/>
          </a:xfrm>
          <a:prstGeom prst="ellipse">
            <a:avLst/>
          </a:prstGeom>
          <a:solidFill>
            <a:srgbClr val="4CABA5">
              <a:alpha val="90000"/>
            </a:srgbClr>
          </a:solidFill>
          <a:ln w="12700">
            <a:solidFill>
              <a:srgbClr val="4CABA5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54112" y="3090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33488" y="3721608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</a:rPr>
              <a:t>Ergebnis-präsentation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33488" y="41330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8D5D0"/>
                </a:solidFill>
              </a:rPr>
              <a:t>Eine </a:t>
            </a:r>
            <a:r>
              <a:rPr lang="en-US" sz="950" i="1" dirty="0" err="1">
                <a:solidFill>
                  <a:srgbClr val="A8D5D0"/>
                </a:solidFill>
              </a:rPr>
              <a:t>zufällig</a:t>
            </a:r>
            <a:r>
              <a:rPr lang="en-US" sz="950" i="1" dirty="0">
                <a:solidFill>
                  <a:srgbClr val="A8D5D0"/>
                </a:solidFill>
              </a:rPr>
              <a:t> </a:t>
            </a:r>
            <a:r>
              <a:rPr lang="en-US" sz="950" i="1" dirty="0" err="1">
                <a:solidFill>
                  <a:srgbClr val="A8D5D0"/>
                </a:solidFill>
              </a:rPr>
              <a:t>ausgewählte</a:t>
            </a:r>
            <a:r>
              <a:rPr lang="en-US" sz="950" i="1" dirty="0">
                <a:solidFill>
                  <a:srgbClr val="A8D5D0"/>
                </a:solidFill>
              </a:rPr>
              <a:t> Gruppe </a:t>
            </a:r>
            <a:r>
              <a:rPr lang="en-US" sz="950" i="1" dirty="0" err="1">
                <a:solidFill>
                  <a:srgbClr val="A8D5D0"/>
                </a:solidFill>
              </a:rPr>
              <a:t>präsentiert</a:t>
            </a:r>
            <a:r>
              <a:rPr lang="en-US" sz="950" i="1" dirty="0">
                <a:solidFill>
                  <a:srgbClr val="A8D5D0"/>
                </a:solidFill>
              </a:rPr>
              <a:t> </a:t>
            </a:r>
            <a:r>
              <a:rPr lang="en-US" sz="950" i="1" dirty="0" err="1">
                <a:solidFill>
                  <a:srgbClr val="A8D5D0"/>
                </a:solidFill>
              </a:rPr>
              <a:t>ihre</a:t>
            </a:r>
            <a:r>
              <a:rPr lang="en-US" sz="950" i="1" dirty="0">
                <a:solidFill>
                  <a:srgbClr val="A8D5D0"/>
                </a:solidFill>
              </a:rPr>
              <a:t> </a:t>
            </a:r>
            <a:r>
              <a:rPr lang="en-US" sz="950" i="1" dirty="0" err="1">
                <a:solidFill>
                  <a:srgbClr val="A8D5D0"/>
                </a:solidFill>
              </a:rPr>
              <a:t>Ergebnisse</a:t>
            </a:r>
            <a:r>
              <a:rPr lang="en-US" sz="950" i="1" dirty="0">
                <a:solidFill>
                  <a:srgbClr val="A8D5D0"/>
                </a:solidFill>
              </a:rPr>
              <a:t> </a:t>
            </a:r>
            <a:r>
              <a:rPr lang="en-US" sz="950" i="1" dirty="0" err="1">
                <a:solidFill>
                  <a:srgbClr val="A8D5D0"/>
                </a:solidFill>
              </a:rPr>
              <a:t>im</a:t>
            </a:r>
            <a:r>
              <a:rPr lang="en-US" sz="950" i="1" dirty="0">
                <a:solidFill>
                  <a:srgbClr val="A8D5D0"/>
                </a:solidFill>
              </a:rPr>
              <a:t> Plenum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090A0"/>
                </a:solidFill>
              </a:rPr>
              <a:t>Methode: Reduziertes Kieler Supervisionsmodell  •  Dauer: ca. 30 Minuten  •  Gruppen: 4–5 Personen</a:t>
            </a:r>
            <a:endParaRPr lang="en-US" sz="1000" dirty="0"/>
          </a:p>
        </p:txBody>
      </p:sp>
      <p:pic>
        <p:nvPicPr>
          <p:cNvPr id="44" name="Grafik 43">
            <a:extLst>
              <a:ext uri="{FF2B5EF4-FFF2-40B4-BE49-F238E27FC236}">
                <a16:creationId xmlns:a16="http://schemas.microsoft.com/office/drawing/2014/main" id="{A10F1170-4723-47FE-BAC9-DB491D5D6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416" y="1440179"/>
            <a:ext cx="3163824" cy="1503084"/>
          </a:xfrm>
          <a:prstGeom prst="rect">
            <a:avLst/>
          </a:prstGeom>
          <a:effectLst>
            <a:softEdge rad="254000"/>
          </a:effectLst>
        </p:spPr>
      </p:pic>
      <p:sp>
        <p:nvSpPr>
          <p:cNvPr id="2" name="Shape 0"/>
          <p:cNvSpPr/>
          <p:nvPr/>
        </p:nvSpPr>
        <p:spPr>
          <a:xfrm>
            <a:off x="6726480" y="-359887"/>
            <a:ext cx="3097680" cy="2635876"/>
          </a:xfrm>
          <a:prstGeom prst="ellipse">
            <a:avLst/>
          </a:prstGeom>
          <a:solidFill>
            <a:srgbClr val="2C7873">
              <a:alpha val="30000"/>
            </a:srgbClr>
          </a:solidFill>
          <a:ln w="12700">
            <a:solidFill>
              <a:srgbClr val="2C7873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926080" cy="2926080"/>
          </a:xfrm>
          <a:prstGeom prst="ellipse">
            <a:avLst/>
          </a:prstGeom>
          <a:solidFill>
            <a:srgbClr val="2C7873">
              <a:alpha val="30000"/>
            </a:srgbClr>
          </a:solidFill>
          <a:ln w="12700">
            <a:solidFill>
              <a:srgbClr val="2C7873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" y="3474720"/>
            <a:ext cx="2286000" cy="2286000"/>
          </a:xfrm>
          <a:prstGeom prst="ellipse">
            <a:avLst/>
          </a:prstGeom>
          <a:solidFill>
            <a:srgbClr val="4CABA5">
              <a:alpha val="25000"/>
            </a:srgbClr>
          </a:solidFill>
          <a:ln w="12700">
            <a:solidFill>
              <a:srgbClr val="4CABA5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90A0"/>
                </a:solidFill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BA5"/>
                </a:solidFill>
              </a:rPr>
              <a:t>Gruppenarbeit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73667" y="207797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Simulationsphase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(ca. 30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Minuten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090A0"/>
                </a:solidFill>
              </a:rPr>
              <a:t>Methode: Reduziertes Kieler Supervisionsmodell  •  Dauer: ca. 30 Minuten  •  Gruppen: 4–5 Personen</a:t>
            </a:r>
            <a:endParaRPr lang="en-US" sz="1000" dirty="0"/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5AF8FFC0-AD2F-4B8F-AF70-BCD65921751C}"/>
              </a:ext>
            </a:extLst>
          </p:cNvPr>
          <p:cNvSpPr/>
          <p:nvPr/>
        </p:nvSpPr>
        <p:spPr>
          <a:xfrm>
            <a:off x="6377438" y="152044"/>
            <a:ext cx="2229601" cy="2419706"/>
          </a:xfrm>
          <a:prstGeom prst="ellipse">
            <a:avLst/>
          </a:prstGeom>
          <a:solidFill>
            <a:srgbClr val="2C7873">
              <a:alpha val="30000"/>
            </a:srgbClr>
          </a:solidFill>
          <a:ln w="12700">
            <a:solidFill>
              <a:srgbClr val="2C7873">
                <a:alpha val="30000"/>
              </a:srgbClr>
            </a:solidFill>
            <a:prstDash val="solid"/>
          </a:ln>
        </p:spPr>
      </p:sp>
      <p:sp>
        <p:nvSpPr>
          <p:cNvPr id="46" name="Shape 0">
            <a:extLst>
              <a:ext uri="{FF2B5EF4-FFF2-40B4-BE49-F238E27FC236}">
                <a16:creationId xmlns:a16="http://schemas.microsoft.com/office/drawing/2014/main" id="{8065708C-A57D-41A2-AF14-1C9ACBD26DF3}"/>
              </a:ext>
            </a:extLst>
          </p:cNvPr>
          <p:cNvSpPr/>
          <p:nvPr/>
        </p:nvSpPr>
        <p:spPr>
          <a:xfrm>
            <a:off x="868680" y="3340772"/>
            <a:ext cx="1491907" cy="1505548"/>
          </a:xfrm>
          <a:prstGeom prst="ellipse">
            <a:avLst/>
          </a:prstGeom>
          <a:solidFill>
            <a:srgbClr val="2C7873">
              <a:alpha val="30000"/>
            </a:srgbClr>
          </a:solidFill>
          <a:ln w="12700">
            <a:solidFill>
              <a:srgbClr val="2C7873">
                <a:alpha val="3000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82693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1132</Words>
  <Application>Microsoft Office PowerPoint</Application>
  <PresentationFormat>Bildschirmpräsentation (16:9)</PresentationFormat>
  <Paragraphs>198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Supervision in der Schule</dc:title>
  <dc:subject>PptxGenJS Presentation</dc:subject>
  <dc:creator>PptxGenJS</dc:creator>
  <cp:lastModifiedBy>Roza Elmas</cp:lastModifiedBy>
  <cp:revision>6</cp:revision>
  <dcterms:created xsi:type="dcterms:W3CDTF">2026-06-10T03:22:03Z</dcterms:created>
  <dcterms:modified xsi:type="dcterms:W3CDTF">2026-06-12T05:21:00Z</dcterms:modified>
</cp:coreProperties>
</file>